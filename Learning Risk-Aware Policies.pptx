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59" r:id="rId5"/>
    <p:sldId id="260" r:id="rId6"/>
    <p:sldId id="261" r:id="rId7"/>
    <p:sldId id="266" r:id="rId8"/>
    <p:sldId id="269" r:id="rId9"/>
    <p:sldId id="262" r:id="rId10"/>
    <p:sldId id="270" r:id="rId11"/>
    <p:sldId id="267" r:id="rId12"/>
    <p:sldId id="268"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0638" autoAdjust="0"/>
  </p:normalViewPr>
  <p:slideViewPr>
    <p:cSldViewPr snapToGrid="0">
      <p:cViewPr varScale="1">
        <p:scale>
          <a:sx n="91" d="100"/>
          <a:sy n="91" d="100"/>
        </p:scale>
        <p:origin x="6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23B2F-494B-4651-9831-09F8D2A509C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53E6BB-A071-4942-B2F9-F5EE60647272}" type="slidenum">
              <a:rPr lang="en-US" smtClean="0"/>
              <a:t>‹#›</a:t>
            </a:fld>
            <a:endParaRPr lang="en-US"/>
          </a:p>
        </p:txBody>
      </p:sp>
    </p:spTree>
    <p:extLst>
      <p:ext uri="{BB962C8B-B14F-4D97-AF65-F5344CB8AC3E}">
        <p14:creationId xmlns:p14="http://schemas.microsoft.com/office/powerpoint/2010/main" val="1311974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this is an AI/Machine Learning class, and I was captivated by the Pac-man assignment. A quick look on the internet shows that it’s basic for Machine Learning students, but I’m a learner.</a:t>
            </a:r>
          </a:p>
          <a:p>
            <a:r>
              <a:rPr lang="en-US" dirty="0"/>
              <a:t>My technical career has led to me performing as a Solution Designer, Business Analyst, Software Engineering Manager, and Solution Architect.</a:t>
            </a:r>
          </a:p>
          <a:p>
            <a:r>
              <a:rPr lang="en-US" dirty="0"/>
              <a:t>Much of my world revolves around learning tech and understanding how to utilize it appropriately for businesses.</a:t>
            </a:r>
          </a:p>
          <a:p>
            <a:endParaRPr lang="en-US" dirty="0"/>
          </a:p>
          <a:p>
            <a:r>
              <a:rPr lang="en-US" dirty="0"/>
              <a:t>So upon brainstorming multiple options, I came across business scenarios where understanding Optimal Stopping is important. Think like sitting at a poker table, and the pot keeps raising, when is it right for you to stop raising the pot?</a:t>
            </a:r>
          </a:p>
          <a:p>
            <a:r>
              <a:rPr lang="en-US" dirty="0"/>
              <a:t>In Finance we see this in the stock market, when should I stop holding these shares and sell? When should I stop buying the dip?</a:t>
            </a:r>
          </a:p>
          <a:p>
            <a:r>
              <a:rPr lang="en-US" dirty="0"/>
              <a:t>In Operations, when should I decide to stop manufacturing this product?</a:t>
            </a:r>
          </a:p>
          <a:p>
            <a:r>
              <a:rPr lang="en-US" dirty="0"/>
              <a:t>It’s absolutely important in Game AI’s, when characters are placed in situations where should they take on more risk or preserve their current score.</a:t>
            </a:r>
          </a:p>
          <a:p>
            <a:endParaRPr lang="en-US" dirty="0"/>
          </a:p>
          <a:p>
            <a:r>
              <a:rPr lang="en-US" dirty="0"/>
              <a:t>That’s where Flip 7 is useful, because every turn in the game pushes that decision point. The agent has to decide whether to draw and risk losing the round OR stop and bank points.</a:t>
            </a:r>
          </a:p>
          <a:p>
            <a:r>
              <a:rPr lang="en-US" dirty="0"/>
              <a:t>I wanted to latch on to an architecture that was simple in explanation to me, so I tested whether Q-learning could discover the right policy on it’s own, instead of being programmed with a fixed threshold.</a:t>
            </a:r>
          </a:p>
        </p:txBody>
      </p:sp>
      <p:sp>
        <p:nvSpPr>
          <p:cNvPr id="4" name="Slide Number Placeholder 3"/>
          <p:cNvSpPr>
            <a:spLocks noGrp="1"/>
          </p:cNvSpPr>
          <p:nvPr>
            <p:ph type="sldNum" sz="quarter" idx="5"/>
          </p:nvPr>
        </p:nvSpPr>
        <p:spPr/>
        <p:txBody>
          <a:bodyPr/>
          <a:lstStyle/>
          <a:p>
            <a:fld id="{AA53E6BB-A071-4942-B2F9-F5EE60647272}" type="slidenum">
              <a:rPr lang="en-US" smtClean="0"/>
              <a:t>2</a:t>
            </a:fld>
            <a:endParaRPr lang="en-US"/>
          </a:p>
        </p:txBody>
      </p:sp>
    </p:spTree>
    <p:extLst>
      <p:ext uri="{BB962C8B-B14F-4D97-AF65-F5344CB8AC3E}">
        <p14:creationId xmlns:p14="http://schemas.microsoft.com/office/powerpoint/2010/main" val="169907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game is relatively simple mechanically, but somewhat complicated mathematically in terms of evaluating risk. Each player wants to reach 200 points.</a:t>
            </a:r>
          </a:p>
          <a:p>
            <a:r>
              <a:rPr lang="en-US" dirty="0"/>
              <a:t>On each turn, you really have 2 choices Draw or Stop. That’s important for the Q-learning table.</a:t>
            </a:r>
          </a:p>
          <a:p>
            <a:r>
              <a:rPr lang="en-US" dirty="0"/>
              <a:t>We have 1 – 1 card, 2- twos, 3- threes and so on up to 12. That means bigger numbers good, but risky because there’s more of them in the deck so higher probability of drawing.</a:t>
            </a:r>
          </a:p>
          <a:p>
            <a:r>
              <a:rPr lang="en-US" dirty="0"/>
              <a:t>We’ve got some special cards, Flip 3, which means you either draw 3 cards or you assign someone else to draw 3 cards. – I made a heuristic policy for this, to make the game run easier.</a:t>
            </a:r>
          </a:p>
          <a:p>
            <a:r>
              <a:rPr lang="en-US" dirty="0"/>
              <a:t>We have a Freeze, which ends someone’s turn in the round immediately – tricky to implement code wise, caused me problems.</a:t>
            </a:r>
          </a:p>
          <a:p>
            <a:r>
              <a:rPr lang="en-US" dirty="0"/>
              <a:t>We have a 2</a:t>
            </a:r>
            <a:r>
              <a:rPr lang="en-US" baseline="30000" dirty="0"/>
              <a:t>nd</a:t>
            </a:r>
            <a:r>
              <a:rPr lang="en-US" dirty="0"/>
              <a:t> chance card, it’s important, if you draw a duplicate, and you have the second chance card, you’re still in the game for the round but it gets discarded.</a:t>
            </a:r>
          </a:p>
          <a:p>
            <a:r>
              <a:rPr lang="en-US" dirty="0"/>
              <a:t>Beyond that, some simple modifiers, +2, +4, +6. +8, +10, *2</a:t>
            </a:r>
          </a:p>
          <a:p>
            <a:endParaRPr lang="en-US" dirty="0"/>
          </a:p>
          <a:p>
            <a:r>
              <a:rPr lang="en-US" dirty="0"/>
              <a:t>I simplified some of the game, so we can focus on the stopping instead of the full commercial game itself.</a:t>
            </a:r>
          </a:p>
          <a:p>
            <a:r>
              <a:rPr lang="en-US" dirty="0"/>
              <a:t>I encourage playing the game, fun for the family and friends, drinking or not.</a:t>
            </a:r>
          </a:p>
        </p:txBody>
      </p:sp>
      <p:sp>
        <p:nvSpPr>
          <p:cNvPr id="4" name="Slide Number Placeholder 3"/>
          <p:cNvSpPr>
            <a:spLocks noGrp="1"/>
          </p:cNvSpPr>
          <p:nvPr>
            <p:ph type="sldNum" sz="quarter" idx="5"/>
          </p:nvPr>
        </p:nvSpPr>
        <p:spPr/>
        <p:txBody>
          <a:bodyPr/>
          <a:lstStyle/>
          <a:p>
            <a:fld id="{AA53E6BB-A071-4942-B2F9-F5EE60647272}" type="slidenum">
              <a:rPr lang="en-US" smtClean="0"/>
              <a:t>3</a:t>
            </a:fld>
            <a:endParaRPr lang="en-US"/>
          </a:p>
        </p:txBody>
      </p:sp>
    </p:spTree>
    <p:extLst>
      <p:ext uri="{BB962C8B-B14F-4D97-AF65-F5344CB8AC3E}">
        <p14:creationId xmlns:p14="http://schemas.microsoft.com/office/powerpoint/2010/main" val="2805265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modeled this game similar to our Pac-man homework assignment which was a Markov Decision Process. </a:t>
            </a:r>
          </a:p>
          <a:p>
            <a:r>
              <a:rPr lang="en-US" dirty="0"/>
              <a:t>The agent sees a simplified version of the game, Draw or Stop, receives a reward or negative reward, and updates its Q-values.</a:t>
            </a:r>
          </a:p>
          <a:p>
            <a:r>
              <a:rPr lang="en-US" dirty="0"/>
              <a:t>The design choices here are important. What information is important to track, and what information is noise.</a:t>
            </a:r>
          </a:p>
          <a:p>
            <a:r>
              <a:rPr lang="en-US" dirty="0"/>
              <a:t>What is enough to support learning, but small enough for tabular Q-learning.</a:t>
            </a:r>
          </a:p>
          <a:p>
            <a:r>
              <a:rPr lang="en-US" dirty="0"/>
              <a:t>This has impact as we’ll see later in the presentation.</a:t>
            </a:r>
          </a:p>
        </p:txBody>
      </p:sp>
      <p:sp>
        <p:nvSpPr>
          <p:cNvPr id="4" name="Slide Number Placeholder 3"/>
          <p:cNvSpPr>
            <a:spLocks noGrp="1"/>
          </p:cNvSpPr>
          <p:nvPr>
            <p:ph type="sldNum" sz="quarter" idx="5"/>
          </p:nvPr>
        </p:nvSpPr>
        <p:spPr/>
        <p:txBody>
          <a:bodyPr/>
          <a:lstStyle/>
          <a:p>
            <a:fld id="{AA53E6BB-A071-4942-B2F9-F5EE60647272}" type="slidenum">
              <a:rPr lang="en-US" smtClean="0"/>
              <a:t>4</a:t>
            </a:fld>
            <a:endParaRPr lang="en-US"/>
          </a:p>
        </p:txBody>
      </p:sp>
    </p:spTree>
    <p:extLst>
      <p:ext uri="{BB962C8B-B14F-4D97-AF65-F5344CB8AC3E}">
        <p14:creationId xmlns:p14="http://schemas.microsoft.com/office/powerpoint/2010/main" val="366620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loop. The system architecture is somewhat simplistic. Everything starts with our stochastic deck that is assembled.</a:t>
            </a:r>
          </a:p>
          <a:p>
            <a:r>
              <a:rPr lang="en-US" dirty="0"/>
              <a:t>The environment deals cards and manages the game. The agent observes a reduced state, looks up Q-values, chooses an action, receives a reward, and updates the Q-table. During training it explores with epsilon-greedy behavior. </a:t>
            </a:r>
          </a:p>
          <a:p>
            <a:r>
              <a:rPr lang="en-US" dirty="0"/>
              <a:t>As reminder, the epsilon-greedy behavior is like a dilemma explorer. Think </a:t>
            </a:r>
            <a:r>
              <a:rPr lang="en-US" dirty="0" err="1"/>
              <a:t>pacman</a:t>
            </a:r>
            <a:r>
              <a:rPr lang="en-US" dirty="0"/>
              <a:t> trying to figure out should I go with the best option I’ve found so far, or try a random option to see if its even better.</a:t>
            </a:r>
          </a:p>
          <a:p>
            <a:r>
              <a:rPr lang="en-US" dirty="0"/>
              <a:t>The more rounds, the less it explores.</a:t>
            </a:r>
          </a:p>
          <a:p>
            <a:r>
              <a:rPr lang="en-US" dirty="0"/>
              <a:t>During evaluation the Q-table is frozen so we can measure what it actually learned. In evaluation mode, epsilon move to 0, and it becomes greedy and never searches for a new option.</a:t>
            </a:r>
          </a:p>
        </p:txBody>
      </p:sp>
      <p:sp>
        <p:nvSpPr>
          <p:cNvPr id="4" name="Slide Number Placeholder 3"/>
          <p:cNvSpPr>
            <a:spLocks noGrp="1"/>
          </p:cNvSpPr>
          <p:nvPr>
            <p:ph type="sldNum" sz="quarter" idx="5"/>
          </p:nvPr>
        </p:nvSpPr>
        <p:spPr/>
        <p:txBody>
          <a:bodyPr/>
          <a:lstStyle/>
          <a:p>
            <a:fld id="{AA53E6BB-A071-4942-B2F9-F5EE60647272}" type="slidenum">
              <a:rPr lang="en-US" smtClean="0"/>
              <a:t>6</a:t>
            </a:fld>
            <a:endParaRPr lang="en-US"/>
          </a:p>
        </p:txBody>
      </p:sp>
    </p:spTree>
    <p:extLst>
      <p:ext uri="{BB962C8B-B14F-4D97-AF65-F5344CB8AC3E}">
        <p14:creationId xmlns:p14="http://schemas.microsoft.com/office/powerpoint/2010/main" val="1312852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design choice was state abstraction. I originally tracked more exact information, but the Q-table became too sparse. I tried to track every card combination in a hand. Obviously, I didn’t understand state abstraction and my limitations with the training budget.</a:t>
            </a:r>
          </a:p>
          <a:p>
            <a:r>
              <a:rPr lang="en-US" dirty="0"/>
              <a:t>After achieving a .003 win rate, I adjusted.</a:t>
            </a:r>
          </a:p>
          <a:p>
            <a:r>
              <a:rPr lang="en-US" dirty="0"/>
              <a:t>So I moved to score bins, card-count tracking, gap bins, and a second-chance flag. That gave the agent enough information to make risk-aware decisions while keeping the table small enough to learn from repeated visits.</a:t>
            </a:r>
          </a:p>
        </p:txBody>
      </p:sp>
      <p:sp>
        <p:nvSpPr>
          <p:cNvPr id="4" name="Slide Number Placeholder 3"/>
          <p:cNvSpPr>
            <a:spLocks noGrp="1"/>
          </p:cNvSpPr>
          <p:nvPr>
            <p:ph type="sldNum" sz="quarter" idx="5"/>
          </p:nvPr>
        </p:nvSpPr>
        <p:spPr/>
        <p:txBody>
          <a:bodyPr/>
          <a:lstStyle/>
          <a:p>
            <a:fld id="{AA53E6BB-A071-4942-B2F9-F5EE60647272}" type="slidenum">
              <a:rPr lang="en-US" smtClean="0"/>
              <a:t>7</a:t>
            </a:fld>
            <a:endParaRPr lang="en-US"/>
          </a:p>
        </p:txBody>
      </p:sp>
    </p:spTree>
    <p:extLst>
      <p:ext uri="{BB962C8B-B14F-4D97-AF65-F5344CB8AC3E}">
        <p14:creationId xmlns:p14="http://schemas.microsoft.com/office/powerpoint/2010/main" val="3418514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D4DCF-08BA-026A-B748-0C7CA7316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40CE6-2521-566F-C1B5-7E6023936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D7328-0C73-9055-73B5-19D6167F6A0B}"/>
              </a:ext>
            </a:extLst>
          </p:cNvPr>
          <p:cNvSpPr>
            <a:spLocks noGrp="1"/>
          </p:cNvSpPr>
          <p:nvPr>
            <p:ph type="body" idx="1"/>
          </p:nvPr>
        </p:nvSpPr>
        <p:spPr/>
        <p:txBody>
          <a:bodyPr/>
          <a:lstStyle/>
          <a:p>
            <a:r>
              <a:rPr lang="en-US" dirty="0"/>
              <a:t>The most important design choice was state abstraction. I originally tracked more exact information, but the Q-table became too sparse. I tried to track every card combination in a hand. Obviously, I didn’t understand state abstraction and my limitations with the training budget.</a:t>
            </a:r>
          </a:p>
          <a:p>
            <a:r>
              <a:rPr lang="en-US" dirty="0"/>
              <a:t>After achieving a .003 win rate, I adjusted.</a:t>
            </a:r>
          </a:p>
          <a:p>
            <a:r>
              <a:rPr lang="en-US" dirty="0"/>
              <a:t>So I moved to score bins, card-count tracking, gap bins, and a second-chance flag. That gave the agent enough information to make risk-aware decisions while keeping the table small enough to learn from repeated visits.</a:t>
            </a:r>
          </a:p>
        </p:txBody>
      </p:sp>
      <p:sp>
        <p:nvSpPr>
          <p:cNvPr id="4" name="Slide Number Placeholder 3">
            <a:extLst>
              <a:ext uri="{FF2B5EF4-FFF2-40B4-BE49-F238E27FC236}">
                <a16:creationId xmlns:a16="http://schemas.microsoft.com/office/drawing/2014/main" id="{6614B4CF-4A41-9331-C1D5-5571EFCD34CB}"/>
              </a:ext>
            </a:extLst>
          </p:cNvPr>
          <p:cNvSpPr>
            <a:spLocks noGrp="1"/>
          </p:cNvSpPr>
          <p:nvPr>
            <p:ph type="sldNum" sz="quarter" idx="5"/>
          </p:nvPr>
        </p:nvSpPr>
        <p:spPr/>
        <p:txBody>
          <a:bodyPr/>
          <a:lstStyle/>
          <a:p>
            <a:fld id="{AA53E6BB-A071-4942-B2F9-F5EE60647272}" type="slidenum">
              <a:rPr lang="en-US" smtClean="0"/>
              <a:t>8</a:t>
            </a:fld>
            <a:endParaRPr lang="en-US"/>
          </a:p>
        </p:txBody>
      </p:sp>
    </p:spTree>
    <p:extLst>
      <p:ext uri="{BB962C8B-B14F-4D97-AF65-F5344CB8AC3E}">
        <p14:creationId xmlns:p14="http://schemas.microsoft.com/office/powerpoint/2010/main" val="2589160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design choice was state abstraction. I originally tracked more exact information, but the Q-table became too sparse. I tried to track every card combination in a hand. Obviously, I didn’t understand state abstraction and my limitations with the training budget.</a:t>
            </a:r>
          </a:p>
          <a:p>
            <a:r>
              <a:rPr lang="en-US" dirty="0"/>
              <a:t>After achieving a .003 win rate, I adjusted.</a:t>
            </a:r>
          </a:p>
          <a:p>
            <a:r>
              <a:rPr lang="en-US" dirty="0"/>
              <a:t>So I moved to score bins, card-count tracking, gap bins, and a second-chance flag. That gave the agent enough information to make risk-aware decisions while keeping the table small enough to learn from repeated visits.</a:t>
            </a:r>
          </a:p>
          <a:p>
            <a:endParaRPr lang="en-US" dirty="0"/>
          </a:p>
        </p:txBody>
      </p:sp>
      <p:sp>
        <p:nvSpPr>
          <p:cNvPr id="4" name="Slide Number Placeholder 3"/>
          <p:cNvSpPr>
            <a:spLocks noGrp="1"/>
          </p:cNvSpPr>
          <p:nvPr>
            <p:ph type="sldNum" sz="quarter" idx="5"/>
          </p:nvPr>
        </p:nvSpPr>
        <p:spPr/>
        <p:txBody>
          <a:bodyPr/>
          <a:lstStyle/>
          <a:p>
            <a:fld id="{AA53E6BB-A071-4942-B2F9-F5EE60647272}" type="slidenum">
              <a:rPr lang="en-US" smtClean="0"/>
              <a:t>9</a:t>
            </a:fld>
            <a:endParaRPr lang="en-US"/>
          </a:p>
        </p:txBody>
      </p:sp>
    </p:spTree>
    <p:extLst>
      <p:ext uri="{BB962C8B-B14F-4D97-AF65-F5344CB8AC3E}">
        <p14:creationId xmlns:p14="http://schemas.microsoft.com/office/powerpoint/2010/main" val="124092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DB6A3-CC3A-2477-5360-3F6143EB0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441A7-49D7-D5AE-3C02-FDBA43B0E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BB234-FCAD-0E2E-3F46-EB36D9749258}"/>
              </a:ext>
            </a:extLst>
          </p:cNvPr>
          <p:cNvSpPr>
            <a:spLocks noGrp="1"/>
          </p:cNvSpPr>
          <p:nvPr>
            <p:ph type="body" idx="1"/>
          </p:nvPr>
        </p:nvSpPr>
        <p:spPr/>
        <p:txBody>
          <a:bodyPr/>
          <a:lstStyle/>
          <a:p>
            <a:r>
              <a:rPr lang="en-US" dirty="0"/>
              <a:t>The most important design choice was state abstraction. I originally tracked more exact information, but the Q-table became too sparse. I tried to track every card combination in a hand. Obviously, I didn’t understand state abstraction and my limitations with the training budget.</a:t>
            </a:r>
          </a:p>
          <a:p>
            <a:r>
              <a:rPr lang="en-US" dirty="0"/>
              <a:t>After achieving a .003 win rate, I adjusted.</a:t>
            </a:r>
          </a:p>
          <a:p>
            <a:r>
              <a:rPr lang="en-US" dirty="0"/>
              <a:t>So I moved to score bins, card-count tracking, gap bins, and a second-chance flag. That gave the agent enough information to make risk-aware decisions while keeping the table small enough to learn from repeated visits.</a:t>
            </a:r>
          </a:p>
          <a:p>
            <a:endParaRPr lang="en-US" dirty="0"/>
          </a:p>
        </p:txBody>
      </p:sp>
      <p:sp>
        <p:nvSpPr>
          <p:cNvPr id="4" name="Slide Number Placeholder 3">
            <a:extLst>
              <a:ext uri="{FF2B5EF4-FFF2-40B4-BE49-F238E27FC236}">
                <a16:creationId xmlns:a16="http://schemas.microsoft.com/office/drawing/2014/main" id="{E5CE0B8E-0C51-9BC3-8D0D-0510F09025B3}"/>
              </a:ext>
            </a:extLst>
          </p:cNvPr>
          <p:cNvSpPr>
            <a:spLocks noGrp="1"/>
          </p:cNvSpPr>
          <p:nvPr>
            <p:ph type="sldNum" sz="quarter" idx="5"/>
          </p:nvPr>
        </p:nvSpPr>
        <p:spPr/>
        <p:txBody>
          <a:bodyPr/>
          <a:lstStyle/>
          <a:p>
            <a:fld id="{AA53E6BB-A071-4942-B2F9-F5EE60647272}" type="slidenum">
              <a:rPr lang="en-US" smtClean="0"/>
              <a:t>10</a:t>
            </a:fld>
            <a:endParaRPr lang="en-US"/>
          </a:p>
        </p:txBody>
      </p:sp>
    </p:spTree>
    <p:extLst>
      <p:ext uri="{BB962C8B-B14F-4D97-AF65-F5344CB8AC3E}">
        <p14:creationId xmlns:p14="http://schemas.microsoft.com/office/powerpoint/2010/main" val="1569700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pretty important and in retrospect, a bit of a flaw on my behalf. I went for a tiered reward structure. Originally, I had issues in testing with a super high rate of busting from just oversized draws.</a:t>
            </a:r>
          </a:p>
          <a:p>
            <a:r>
              <a:rPr lang="en-US" dirty="0"/>
              <a:t>I thought to curb that with a bust penalty. The reward function tried to balance three things: scoring points, understanding whether the agent was ahead or behind, and punishing busts. The idea was that busting while ahead should be punished more because it is reckless, while busting while behind should be punished less because risk-taking may be necessary. This reward design worked partially, but it also created the biggest finding of the project</a:t>
            </a:r>
          </a:p>
        </p:txBody>
      </p:sp>
      <p:sp>
        <p:nvSpPr>
          <p:cNvPr id="4" name="Slide Number Placeholder 3"/>
          <p:cNvSpPr>
            <a:spLocks noGrp="1"/>
          </p:cNvSpPr>
          <p:nvPr>
            <p:ph type="sldNum" sz="quarter" idx="5"/>
          </p:nvPr>
        </p:nvSpPr>
        <p:spPr/>
        <p:txBody>
          <a:bodyPr/>
          <a:lstStyle/>
          <a:p>
            <a:fld id="{AA53E6BB-A071-4942-B2F9-F5EE60647272}" type="slidenum">
              <a:rPr lang="en-US" smtClean="0"/>
              <a:t>11</a:t>
            </a:fld>
            <a:endParaRPr lang="en-US"/>
          </a:p>
        </p:txBody>
      </p:sp>
    </p:spTree>
    <p:extLst>
      <p:ext uri="{BB962C8B-B14F-4D97-AF65-F5344CB8AC3E}">
        <p14:creationId xmlns:p14="http://schemas.microsoft.com/office/powerpoint/2010/main" val="3752438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the agent did learn a stable policy, but not necessarily a winning one. </a:t>
            </a:r>
          </a:p>
          <a:p>
            <a:r>
              <a:rPr lang="en-US" dirty="0"/>
              <a:t>State coverage improved across training, which means the Q-table was being populated. </a:t>
            </a:r>
          </a:p>
          <a:p>
            <a:r>
              <a:rPr lang="en-US" dirty="0"/>
              <a:t>However, the win rate did not climb above the heuristics. </a:t>
            </a:r>
          </a:p>
          <a:p>
            <a:r>
              <a:rPr lang="en-US" dirty="0"/>
              <a:t>That told me the issue was not just whether the model was learning, but what behavior the reward structure was teaching it.</a:t>
            </a:r>
          </a:p>
          <a:p>
            <a:endParaRPr lang="en-US" dirty="0"/>
          </a:p>
          <a:p>
            <a:r>
              <a:rPr lang="en-US" dirty="0"/>
              <a:t>Altogether – part of architecture good, Agent explored more of the Q-table</a:t>
            </a:r>
          </a:p>
          <a:p>
            <a:r>
              <a:rPr lang="en-US" dirty="0"/>
              <a:t>Learning stabilized</a:t>
            </a:r>
          </a:p>
          <a:p>
            <a:r>
              <a:rPr lang="en-US" dirty="0"/>
              <a:t>Agent shifted to exploitation late, but it did not hit baseline expectations.</a:t>
            </a:r>
          </a:p>
        </p:txBody>
      </p:sp>
      <p:sp>
        <p:nvSpPr>
          <p:cNvPr id="4" name="Slide Number Placeholder 3"/>
          <p:cNvSpPr>
            <a:spLocks noGrp="1"/>
          </p:cNvSpPr>
          <p:nvPr>
            <p:ph type="sldNum" sz="quarter" idx="5"/>
          </p:nvPr>
        </p:nvSpPr>
        <p:spPr/>
        <p:txBody>
          <a:bodyPr/>
          <a:lstStyle/>
          <a:p>
            <a:fld id="{AA53E6BB-A071-4942-B2F9-F5EE60647272}" type="slidenum">
              <a:rPr lang="en-US" smtClean="0"/>
              <a:t>12</a:t>
            </a:fld>
            <a:endParaRPr lang="en-US"/>
          </a:p>
        </p:txBody>
      </p:sp>
    </p:spTree>
    <p:extLst>
      <p:ext uri="{BB962C8B-B14F-4D97-AF65-F5344CB8AC3E}">
        <p14:creationId xmlns:p14="http://schemas.microsoft.com/office/powerpoint/2010/main" val="3090867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results show the clearest outcome. </a:t>
            </a:r>
          </a:p>
          <a:p>
            <a:r>
              <a:rPr lang="en-US" dirty="0"/>
              <a:t>The RL agent had the lowest win rate and also banked the fewest points per stop. </a:t>
            </a:r>
          </a:p>
          <a:p>
            <a:r>
              <a:rPr lang="en-US" dirty="0"/>
              <a:t>Interestingly, it also had the highest bust rate, which suggests it was not simply playing safely all the time. </a:t>
            </a:r>
          </a:p>
          <a:p>
            <a:r>
              <a:rPr lang="en-US" dirty="0"/>
              <a:t>The better interpretation is that it was not scoring efficiently. Greedy accepted risk but banked enough points to reach 200 faster.</a:t>
            </a:r>
          </a:p>
          <a:p>
            <a:r>
              <a:rPr lang="en-US" dirty="0"/>
              <a:t>I think my rewards were too conservative, and the bust rate is high due to the greedy </a:t>
            </a:r>
            <a:r>
              <a:rPr lang="en-US" dirty="0" err="1"/>
              <a:t>epsilion</a:t>
            </a:r>
            <a:r>
              <a:rPr lang="en-US" dirty="0"/>
              <a:t> explore rate, but I simply had it banking too early.</a:t>
            </a:r>
          </a:p>
          <a:p>
            <a:r>
              <a:rPr lang="en-US" dirty="0"/>
              <a:t>We’ll discuss more later.</a:t>
            </a:r>
          </a:p>
        </p:txBody>
      </p:sp>
      <p:sp>
        <p:nvSpPr>
          <p:cNvPr id="4" name="Slide Number Placeholder 3"/>
          <p:cNvSpPr>
            <a:spLocks noGrp="1"/>
          </p:cNvSpPr>
          <p:nvPr>
            <p:ph type="sldNum" sz="quarter" idx="5"/>
          </p:nvPr>
        </p:nvSpPr>
        <p:spPr/>
        <p:txBody>
          <a:bodyPr/>
          <a:lstStyle/>
          <a:p>
            <a:fld id="{AA53E6BB-A071-4942-B2F9-F5EE60647272}" type="slidenum">
              <a:rPr lang="en-US" smtClean="0"/>
              <a:t>13</a:t>
            </a:fld>
            <a:endParaRPr lang="en-US"/>
          </a:p>
        </p:txBody>
      </p:sp>
    </p:spTree>
    <p:extLst>
      <p:ext uri="{BB962C8B-B14F-4D97-AF65-F5344CB8AC3E}">
        <p14:creationId xmlns:p14="http://schemas.microsoft.com/office/powerpoint/2010/main" val="149876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requirement here was to make sure this hit a rigorous test. I end up going for a 10-fold paired t-test.</a:t>
            </a:r>
          </a:p>
          <a:p>
            <a:r>
              <a:rPr lang="en-US" dirty="0"/>
              <a:t>Each fold retrained the RL agent with a different seed and compared it against the greedy heuristic.</a:t>
            </a:r>
          </a:p>
          <a:p>
            <a:r>
              <a:rPr lang="en-US" dirty="0"/>
              <a:t>The results were so poor, during testing, I added in the other heuristics to see if the agent was catching up.</a:t>
            </a:r>
          </a:p>
          <a:p>
            <a:r>
              <a:rPr lang="en-US" dirty="0"/>
              <a:t>As you can see, Conservative definitely performed better when you add the RL Agent.</a:t>
            </a:r>
          </a:p>
          <a:p>
            <a:r>
              <a:rPr lang="en-US" dirty="0" err="1"/>
              <a:t>Pvalue</a:t>
            </a:r>
            <a:r>
              <a:rPr lang="en-US" dirty="0"/>
              <a:t> is below 0.0001, so I reject the null hypothesis. The direction is a bit brutal when you see the t-statistic.</a:t>
            </a:r>
          </a:p>
          <a:p>
            <a:r>
              <a:rPr lang="en-US" dirty="0"/>
              <a:t>It means the difference favored greedy not the RL agent. I think that’s due to the rewards.</a:t>
            </a:r>
          </a:p>
          <a:p>
            <a:endParaRPr lang="en-US" dirty="0"/>
          </a:p>
          <a:p>
            <a:r>
              <a:rPr lang="en-US" dirty="0"/>
              <a:t>Let’s get into that discussion</a:t>
            </a:r>
          </a:p>
        </p:txBody>
      </p:sp>
      <p:sp>
        <p:nvSpPr>
          <p:cNvPr id="4" name="Slide Number Placeholder 3"/>
          <p:cNvSpPr>
            <a:spLocks noGrp="1"/>
          </p:cNvSpPr>
          <p:nvPr>
            <p:ph type="sldNum" sz="quarter" idx="5"/>
          </p:nvPr>
        </p:nvSpPr>
        <p:spPr/>
        <p:txBody>
          <a:bodyPr/>
          <a:lstStyle/>
          <a:p>
            <a:fld id="{AA53E6BB-A071-4942-B2F9-F5EE60647272}" type="slidenum">
              <a:rPr lang="en-US" smtClean="0"/>
              <a:t>14</a:t>
            </a:fld>
            <a:endParaRPr lang="en-US"/>
          </a:p>
        </p:txBody>
      </p:sp>
    </p:spTree>
    <p:extLst>
      <p:ext uri="{BB962C8B-B14F-4D97-AF65-F5344CB8AC3E}">
        <p14:creationId xmlns:p14="http://schemas.microsoft.com/office/powerpoint/2010/main" val="2007841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function punished mistakes immediately, but the reward for winning came only at the end of the game. That made safe banking more consistently rewarding than taking the risk needed to win.</a:t>
            </a:r>
          </a:p>
          <a:p>
            <a:endParaRPr lang="en-US" dirty="0"/>
          </a:p>
          <a:p>
            <a:r>
              <a:rPr lang="en-US" dirty="0"/>
              <a:t>Bust rate is way too high compared to the other heuristics.</a:t>
            </a:r>
          </a:p>
          <a:p>
            <a:r>
              <a:rPr lang="en-US" dirty="0"/>
              <a:t>Banking is way too low for points</a:t>
            </a:r>
          </a:p>
          <a:p>
            <a:endParaRPr lang="en-US" dirty="0"/>
          </a:p>
          <a:p>
            <a:r>
              <a:rPr lang="en-US" dirty="0"/>
              <a:t>State abstraction – Big lesson there. Tabular Q-learning has some efficiency issues. I probably could’ve continue the test, with original state, but would’ve needed to seriously increase the amount of steps.</a:t>
            </a:r>
          </a:p>
          <a:p>
            <a:r>
              <a:rPr lang="en-US" dirty="0"/>
              <a:t>Terrible for reading the logs and understanding what is happening. There’s literature on Q-networks but I haven’t wrapped my head around it fully.</a:t>
            </a:r>
          </a:p>
          <a:p>
            <a:endParaRPr lang="en-US" dirty="0"/>
          </a:p>
          <a:p>
            <a:r>
              <a:rPr lang="en-US" dirty="0"/>
              <a:t>Balanced 2 – Had some anomalies. I would certainly revisit the engine to see if I made a flub in the engine, it doesn’t make sense the win rate it has.</a:t>
            </a:r>
          </a:p>
        </p:txBody>
      </p:sp>
      <p:sp>
        <p:nvSpPr>
          <p:cNvPr id="4" name="Slide Number Placeholder 3"/>
          <p:cNvSpPr>
            <a:spLocks noGrp="1"/>
          </p:cNvSpPr>
          <p:nvPr>
            <p:ph type="sldNum" sz="quarter" idx="5"/>
          </p:nvPr>
        </p:nvSpPr>
        <p:spPr/>
        <p:txBody>
          <a:bodyPr/>
          <a:lstStyle/>
          <a:p>
            <a:fld id="{AA53E6BB-A071-4942-B2F9-F5EE60647272}" type="slidenum">
              <a:rPr lang="en-US" smtClean="0"/>
              <a:t>15</a:t>
            </a:fld>
            <a:endParaRPr lang="en-US"/>
          </a:p>
        </p:txBody>
      </p:sp>
    </p:spTree>
    <p:extLst>
      <p:ext uri="{BB962C8B-B14F-4D97-AF65-F5344CB8AC3E}">
        <p14:creationId xmlns:p14="http://schemas.microsoft.com/office/powerpoint/2010/main" val="3737167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state tracked individual cards drawn </a:t>
            </a:r>
          </a:p>
          <a:p>
            <a:r>
              <a:rPr lang="en-US" dirty="0"/>
              <a:t>14 number bins × uncapped cards drawn × 4 gap bins = 100,000+ possible states </a:t>
            </a:r>
          </a:p>
          <a:p>
            <a:r>
              <a:rPr lang="en-US" dirty="0"/>
              <a:t>10,000 training games produced only ~2,500 visited states — agent couldn't build reliable Q-values from 1-2 visits per state </a:t>
            </a:r>
          </a:p>
          <a:p>
            <a:r>
              <a:rPr lang="en-US" dirty="0"/>
              <a:t>Solution: decision-aware score binning reduced state space to 513 well-visited states, but cost card-level risk reasoning</a:t>
            </a:r>
          </a:p>
        </p:txBody>
      </p:sp>
      <p:sp>
        <p:nvSpPr>
          <p:cNvPr id="4" name="Slide Number Placeholder 3"/>
          <p:cNvSpPr>
            <a:spLocks noGrp="1"/>
          </p:cNvSpPr>
          <p:nvPr>
            <p:ph type="sldNum" sz="quarter" idx="5"/>
          </p:nvPr>
        </p:nvSpPr>
        <p:spPr/>
        <p:txBody>
          <a:bodyPr/>
          <a:lstStyle/>
          <a:p>
            <a:fld id="{AA53E6BB-A071-4942-B2F9-F5EE60647272}" type="slidenum">
              <a:rPr lang="en-US" smtClean="0"/>
              <a:t>16</a:t>
            </a:fld>
            <a:endParaRPr lang="en-US"/>
          </a:p>
        </p:txBody>
      </p:sp>
    </p:spTree>
    <p:extLst>
      <p:ext uri="{BB962C8B-B14F-4D97-AF65-F5344CB8AC3E}">
        <p14:creationId xmlns:p14="http://schemas.microsoft.com/office/powerpoint/2010/main" val="2591428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A855-634A-25E3-CB04-5980A7FB9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BD685-2C64-578F-2A64-F45FC7E6D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3921A-788B-7A8C-6DAE-758C311C99B3}"/>
              </a:ext>
            </a:extLst>
          </p:cNvPr>
          <p:cNvSpPr>
            <a:spLocks noGrp="1"/>
          </p:cNvSpPr>
          <p:nvPr>
            <p:ph type="body" idx="1"/>
          </p:nvPr>
        </p:nvSpPr>
        <p:spPr/>
        <p:txBody>
          <a:bodyPr/>
          <a:lstStyle/>
          <a:p>
            <a:r>
              <a:rPr lang="en-US" dirty="0"/>
              <a:t>Building and tuning three distinct policies showed how small threshold changes produce measurable behavioral differences Running 5,000-game baselines revealed game dynamics that couldn't be predicted theoretically — Greedy's aggression is structurally rewarded by the deck composition Heuristic tuning directly informed the RL agent's state bin boundaries — the learning wasn't separate, it fed the whole project</a:t>
            </a:r>
          </a:p>
          <a:p>
            <a:endParaRPr lang="en-US" dirty="0"/>
          </a:p>
          <a:p>
            <a:r>
              <a:rPr lang="en-US" dirty="0"/>
              <a:t>Heuristics more so because I had fun creating them. I had fun running the simulations and seeing how changing different parts of the policies could affect the balance of the game.</a:t>
            </a:r>
          </a:p>
        </p:txBody>
      </p:sp>
      <p:sp>
        <p:nvSpPr>
          <p:cNvPr id="4" name="Slide Number Placeholder 3">
            <a:extLst>
              <a:ext uri="{FF2B5EF4-FFF2-40B4-BE49-F238E27FC236}">
                <a16:creationId xmlns:a16="http://schemas.microsoft.com/office/drawing/2014/main" id="{7FCF7957-C58A-6CD0-15AE-B5236A1B868A}"/>
              </a:ext>
            </a:extLst>
          </p:cNvPr>
          <p:cNvSpPr>
            <a:spLocks noGrp="1"/>
          </p:cNvSpPr>
          <p:nvPr>
            <p:ph type="sldNum" sz="quarter" idx="5"/>
          </p:nvPr>
        </p:nvSpPr>
        <p:spPr/>
        <p:txBody>
          <a:bodyPr/>
          <a:lstStyle/>
          <a:p>
            <a:fld id="{AA53E6BB-A071-4942-B2F9-F5EE60647272}" type="slidenum">
              <a:rPr lang="en-US" smtClean="0"/>
              <a:t>17</a:t>
            </a:fld>
            <a:endParaRPr lang="en-US"/>
          </a:p>
        </p:txBody>
      </p:sp>
    </p:spTree>
    <p:extLst>
      <p:ext uri="{BB962C8B-B14F-4D97-AF65-F5344CB8AC3E}">
        <p14:creationId xmlns:p14="http://schemas.microsoft.com/office/powerpoint/2010/main" val="3760726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ECDC-801E-BD00-EA0F-EC4600C91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B13A3-E93B-12AB-C35F-0EB101486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9116D-F098-A8BB-A959-822BF94C0F4A}"/>
              </a:ext>
            </a:extLst>
          </p:cNvPr>
          <p:cNvSpPr>
            <a:spLocks noGrp="1"/>
          </p:cNvSpPr>
          <p:nvPr>
            <p:ph type="body" idx="1"/>
          </p:nvPr>
        </p:nvSpPr>
        <p:spPr/>
        <p:txBody>
          <a:bodyPr/>
          <a:lstStyle/>
          <a:p>
            <a:r>
              <a:rPr lang="en-US" dirty="0"/>
              <a:t>Too many items to choose here. 1</a:t>
            </a:r>
            <a:r>
              <a:rPr lang="en-US" baseline="30000" dirty="0"/>
              <a:t>st</a:t>
            </a:r>
            <a:r>
              <a:rPr lang="en-US" dirty="0"/>
              <a:t>,  I need to see what was going on with the Balanced 2 heuristic.</a:t>
            </a:r>
          </a:p>
          <a:p>
            <a:r>
              <a:rPr lang="en-US" dirty="0"/>
              <a:t>Balanced_2 anomaly remains unresolved after randomizing turn order — three hypotheses exist but none confirmed. </a:t>
            </a:r>
          </a:p>
          <a:p>
            <a:endParaRPr lang="en-US" dirty="0"/>
          </a:p>
          <a:p>
            <a:r>
              <a:rPr lang="en-US" dirty="0"/>
              <a:t>First priority before any further training Transition to Deep Q-Networks — confirmed by data science peers and supported by the literature. </a:t>
            </a:r>
          </a:p>
          <a:p>
            <a:r>
              <a:rPr lang="en-US" dirty="0"/>
              <a:t>DQN is supposed to directly solve it, but I don’t understand it yet.</a:t>
            </a:r>
          </a:p>
        </p:txBody>
      </p:sp>
      <p:sp>
        <p:nvSpPr>
          <p:cNvPr id="4" name="Slide Number Placeholder 3">
            <a:extLst>
              <a:ext uri="{FF2B5EF4-FFF2-40B4-BE49-F238E27FC236}">
                <a16:creationId xmlns:a16="http://schemas.microsoft.com/office/drawing/2014/main" id="{585EF86C-CD6E-8FAD-A3B8-B646127716EC}"/>
              </a:ext>
            </a:extLst>
          </p:cNvPr>
          <p:cNvSpPr>
            <a:spLocks noGrp="1"/>
          </p:cNvSpPr>
          <p:nvPr>
            <p:ph type="sldNum" sz="quarter" idx="5"/>
          </p:nvPr>
        </p:nvSpPr>
        <p:spPr/>
        <p:txBody>
          <a:bodyPr/>
          <a:lstStyle/>
          <a:p>
            <a:fld id="{AA53E6BB-A071-4942-B2F9-F5EE60647272}" type="slidenum">
              <a:rPr lang="en-US" smtClean="0"/>
              <a:t>18</a:t>
            </a:fld>
            <a:endParaRPr lang="en-US"/>
          </a:p>
        </p:txBody>
      </p:sp>
    </p:spTree>
    <p:extLst>
      <p:ext uri="{BB962C8B-B14F-4D97-AF65-F5344CB8AC3E}">
        <p14:creationId xmlns:p14="http://schemas.microsoft.com/office/powerpoint/2010/main" val="1845701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670786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411432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721167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17F1A-9EF4-4EC6-92FF-3EB9C00A78B8}"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3555957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17F1A-9EF4-4EC6-92FF-3EB9C00A78B8}"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3404508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1942134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393839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182305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C17F1A-9EF4-4EC6-92FF-3EB9C00A78B8}"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401609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C17F1A-9EF4-4EC6-92FF-3EB9C00A78B8}"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1562043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666196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03700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235117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670938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3195572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19475662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17F1A-9EF4-4EC6-92FF-3EB9C00A78B8}"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529A44-D3AC-413E-837B-0801C78CFC33}" type="slidenum">
              <a:rPr lang="en-US" smtClean="0"/>
              <a:t>‹#›</a:t>
            </a:fld>
            <a:endParaRPr lang="en-US"/>
          </a:p>
        </p:txBody>
      </p:sp>
    </p:spTree>
    <p:extLst>
      <p:ext uri="{BB962C8B-B14F-4D97-AF65-F5344CB8AC3E}">
        <p14:creationId xmlns:p14="http://schemas.microsoft.com/office/powerpoint/2010/main" val="204187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0C17F1A-9EF4-4EC6-92FF-3EB9C00A78B8}" type="datetimeFigureOut">
              <a:rPr lang="en-US" smtClean="0"/>
              <a:t>5/4/2026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F529A44-D3AC-413E-837B-0801C78CFC33}" type="slidenum">
              <a:rPr lang="en-US" smtClean="0"/>
              <a:t>‹#›</a:t>
            </a:fld>
            <a:endParaRPr lang="en-US"/>
          </a:p>
        </p:txBody>
      </p:sp>
    </p:spTree>
    <p:extLst>
      <p:ext uri="{BB962C8B-B14F-4D97-AF65-F5344CB8AC3E}">
        <p14:creationId xmlns:p14="http://schemas.microsoft.com/office/powerpoint/2010/main" val="26258625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91C8-17D7-2861-0286-D33931C28CA5}"/>
              </a:ext>
            </a:extLst>
          </p:cNvPr>
          <p:cNvSpPr>
            <a:spLocks noGrp="1"/>
          </p:cNvSpPr>
          <p:nvPr>
            <p:ph type="ctrTitle"/>
          </p:nvPr>
        </p:nvSpPr>
        <p:spPr/>
        <p:txBody>
          <a:bodyPr/>
          <a:lstStyle/>
          <a:p>
            <a:pPr algn="ctr"/>
            <a:r>
              <a:rPr lang="en-US" sz="3600" dirty="0"/>
              <a:t>Learning Risk-Aware Policies: A Comparative</a:t>
            </a:r>
            <a:br>
              <a:rPr lang="en-US" sz="3600" dirty="0"/>
            </a:br>
            <a:r>
              <a:rPr lang="en-US" sz="3600" dirty="0"/>
              <a:t>Study of Reinforcement Learning</a:t>
            </a:r>
          </a:p>
        </p:txBody>
      </p:sp>
      <p:sp>
        <p:nvSpPr>
          <p:cNvPr id="3" name="Subtitle 2">
            <a:extLst>
              <a:ext uri="{FF2B5EF4-FFF2-40B4-BE49-F238E27FC236}">
                <a16:creationId xmlns:a16="http://schemas.microsoft.com/office/drawing/2014/main" id="{74501EDB-8B96-50B1-2138-F6EEBBD3993B}"/>
              </a:ext>
            </a:extLst>
          </p:cNvPr>
          <p:cNvSpPr>
            <a:spLocks noGrp="1"/>
          </p:cNvSpPr>
          <p:nvPr>
            <p:ph type="subTitle" idx="1"/>
          </p:nvPr>
        </p:nvSpPr>
        <p:spPr/>
        <p:txBody>
          <a:bodyPr>
            <a:normAutofit fontScale="85000" lnSpcReduction="10000"/>
          </a:bodyPr>
          <a:lstStyle/>
          <a:p>
            <a:r>
              <a:rPr lang="en-US" dirty="0"/>
              <a:t>Diante Calhoun – Cis730 – 5/6/26</a:t>
            </a:r>
          </a:p>
          <a:p>
            <a:r>
              <a:rPr lang="en-US" dirty="0"/>
              <a:t>https://github.com/ccalhoun88/qlearning-flip7-riskAwareStopping</a:t>
            </a:r>
          </a:p>
        </p:txBody>
      </p:sp>
      <p:sp>
        <p:nvSpPr>
          <p:cNvPr id="4" name="Rectangle 3">
            <a:extLst>
              <a:ext uri="{FF2B5EF4-FFF2-40B4-BE49-F238E27FC236}">
                <a16:creationId xmlns:a16="http://schemas.microsoft.com/office/drawing/2014/main" id="{A1458E8A-C600-6F6A-5442-1F802B705726}"/>
              </a:ext>
            </a:extLst>
          </p:cNvPr>
          <p:cNvSpPr/>
          <p:nvPr/>
        </p:nvSpPr>
        <p:spPr>
          <a:xfrm>
            <a:off x="10481808" y="201723"/>
            <a:ext cx="572593"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a:t>
            </a:r>
          </a:p>
        </p:txBody>
      </p:sp>
    </p:spTree>
    <p:extLst>
      <p:ext uri="{BB962C8B-B14F-4D97-AF65-F5344CB8AC3E}">
        <p14:creationId xmlns:p14="http://schemas.microsoft.com/office/powerpoint/2010/main" val="207132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0A4F-09AE-0079-E8D4-B0A4C8C0C901}"/>
              </a:ext>
            </a:extLst>
          </p:cNvPr>
          <p:cNvSpPr>
            <a:spLocks noGrp="1"/>
          </p:cNvSpPr>
          <p:nvPr>
            <p:ph type="title"/>
          </p:nvPr>
        </p:nvSpPr>
        <p:spPr/>
        <p:txBody>
          <a:bodyPr/>
          <a:lstStyle/>
          <a:p>
            <a:r>
              <a:rPr lang="en-US" sz="2800" dirty="0"/>
              <a:t>Problem: Can a reinforcement learning agent learn when to stop drawing cards in Flip 7 without being given fixed stopping thresholds</a:t>
            </a:r>
          </a:p>
        </p:txBody>
      </p:sp>
      <p:sp>
        <p:nvSpPr>
          <p:cNvPr id="3" name="Content Placeholder 2">
            <a:extLst>
              <a:ext uri="{FF2B5EF4-FFF2-40B4-BE49-F238E27FC236}">
                <a16:creationId xmlns:a16="http://schemas.microsoft.com/office/drawing/2014/main" id="{CA80E454-87B7-96AD-4CE3-6834DF84D6E0}"/>
              </a:ext>
            </a:extLst>
          </p:cNvPr>
          <p:cNvSpPr>
            <a:spLocks noGrp="1"/>
          </p:cNvSpPr>
          <p:nvPr>
            <p:ph sz="half" idx="1"/>
          </p:nvPr>
        </p:nvSpPr>
        <p:spPr/>
        <p:txBody>
          <a:bodyPr/>
          <a:lstStyle/>
          <a:p>
            <a:r>
              <a:rPr lang="en-US" dirty="0"/>
              <a:t>Why does this matter:</a:t>
            </a:r>
          </a:p>
          <a:p>
            <a:pPr lvl="1"/>
            <a:r>
              <a:rPr lang="en-US" dirty="0"/>
              <a:t>Finance</a:t>
            </a:r>
          </a:p>
          <a:p>
            <a:pPr lvl="1"/>
            <a:endParaRPr lang="en-US" dirty="0"/>
          </a:p>
          <a:p>
            <a:pPr lvl="1"/>
            <a:r>
              <a:rPr lang="en-US" dirty="0"/>
              <a:t>Operations</a:t>
            </a:r>
          </a:p>
          <a:p>
            <a:pPr lvl="1"/>
            <a:endParaRPr lang="en-US" dirty="0"/>
          </a:p>
          <a:p>
            <a:pPr lvl="1"/>
            <a:r>
              <a:rPr lang="en-US" dirty="0"/>
              <a:t>Game AI</a:t>
            </a:r>
          </a:p>
        </p:txBody>
      </p:sp>
      <p:sp>
        <p:nvSpPr>
          <p:cNvPr id="4" name="Content Placeholder 3">
            <a:extLst>
              <a:ext uri="{FF2B5EF4-FFF2-40B4-BE49-F238E27FC236}">
                <a16:creationId xmlns:a16="http://schemas.microsoft.com/office/drawing/2014/main" id="{8E5859F5-EBCB-0F00-6BDE-90C78265C6AA}"/>
              </a:ext>
            </a:extLst>
          </p:cNvPr>
          <p:cNvSpPr>
            <a:spLocks noGrp="1"/>
          </p:cNvSpPr>
          <p:nvPr>
            <p:ph sz="half" idx="2"/>
          </p:nvPr>
        </p:nvSpPr>
        <p:spPr/>
        <p:txBody>
          <a:bodyPr/>
          <a:lstStyle/>
          <a:p>
            <a:r>
              <a:rPr lang="en-US" dirty="0"/>
              <a:t>Why Flip 7?</a:t>
            </a:r>
          </a:p>
          <a:p>
            <a:endParaRPr lang="en-US" dirty="0"/>
          </a:p>
          <a:p>
            <a:endParaRPr lang="en-US" dirty="0"/>
          </a:p>
        </p:txBody>
      </p:sp>
      <p:pic>
        <p:nvPicPr>
          <p:cNvPr id="1030" name="Picture 6" descr="Flip 7™ - 2nd Edition">
            <a:extLst>
              <a:ext uri="{FF2B5EF4-FFF2-40B4-BE49-F238E27FC236}">
                <a16:creationId xmlns:a16="http://schemas.microsoft.com/office/drawing/2014/main" id="{029B7D85-5E9C-0899-A761-7E86F42A3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95282"/>
            <a:ext cx="3348318" cy="334831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8EE34F7-8705-4C91-ED0F-D48E2CE1FBFA}"/>
              </a:ext>
            </a:extLst>
          </p:cNvPr>
          <p:cNvSpPr/>
          <p:nvPr/>
        </p:nvSpPr>
        <p:spPr>
          <a:xfrm>
            <a:off x="10498741" y="229653"/>
            <a:ext cx="572593"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2</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6" name="TextBox 5">
            <a:extLst>
              <a:ext uri="{FF2B5EF4-FFF2-40B4-BE49-F238E27FC236}">
                <a16:creationId xmlns:a16="http://schemas.microsoft.com/office/drawing/2014/main" id="{587105D6-BC7B-2081-FAFC-4FADEAE7F14F}"/>
              </a:ext>
            </a:extLst>
          </p:cNvPr>
          <p:cNvSpPr txBox="1"/>
          <p:nvPr/>
        </p:nvSpPr>
        <p:spPr>
          <a:xfrm>
            <a:off x="0" y="6439387"/>
            <a:ext cx="9404723" cy="369332"/>
          </a:xfrm>
          <a:prstGeom prst="rect">
            <a:avLst/>
          </a:prstGeom>
          <a:noFill/>
        </p:spPr>
        <p:txBody>
          <a:bodyPr wrap="square" rtlCol="0">
            <a:spAutoFit/>
          </a:bodyPr>
          <a:lstStyle/>
          <a:p>
            <a:r>
              <a:rPr lang="en-US" dirty="0"/>
              <a:t>(Ferguson, Statistical Science, 1989), (Sturtevant, UCLA Dissertation, 2003)</a:t>
            </a:r>
          </a:p>
        </p:txBody>
      </p:sp>
    </p:spTree>
    <p:extLst>
      <p:ext uri="{BB962C8B-B14F-4D97-AF65-F5344CB8AC3E}">
        <p14:creationId xmlns:p14="http://schemas.microsoft.com/office/powerpoint/2010/main" val="2859668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2F67-0D5B-F0AE-9D79-FA3F387942F1}"/>
              </a:ext>
            </a:extLst>
          </p:cNvPr>
          <p:cNvSpPr>
            <a:spLocks noGrp="1"/>
          </p:cNvSpPr>
          <p:nvPr>
            <p:ph type="title"/>
          </p:nvPr>
        </p:nvSpPr>
        <p:spPr>
          <a:xfrm>
            <a:off x="4157353" y="375920"/>
            <a:ext cx="3877293" cy="704167"/>
          </a:xfrm>
        </p:spPr>
        <p:txBody>
          <a:bodyPr/>
          <a:lstStyle/>
          <a:p>
            <a:r>
              <a:rPr lang="en-US" sz="3600" dirty="0"/>
              <a:t>Game Overview</a:t>
            </a:r>
          </a:p>
        </p:txBody>
      </p:sp>
      <p:sp>
        <p:nvSpPr>
          <p:cNvPr id="4" name="Text Placeholder 3">
            <a:extLst>
              <a:ext uri="{FF2B5EF4-FFF2-40B4-BE49-F238E27FC236}">
                <a16:creationId xmlns:a16="http://schemas.microsoft.com/office/drawing/2014/main" id="{BDC0DF58-760C-F199-F97C-85C2DC7712DA}"/>
              </a:ext>
            </a:extLst>
          </p:cNvPr>
          <p:cNvSpPr>
            <a:spLocks noGrp="1"/>
          </p:cNvSpPr>
          <p:nvPr>
            <p:ph type="body" sz="half" idx="2"/>
          </p:nvPr>
        </p:nvSpPr>
        <p:spPr>
          <a:xfrm>
            <a:off x="457199" y="1447800"/>
            <a:ext cx="4783015" cy="5034280"/>
          </a:xfrm>
        </p:spPr>
        <p:txBody>
          <a:bodyPr>
            <a:normAutofit/>
          </a:bodyPr>
          <a:lstStyle/>
          <a:p>
            <a:r>
              <a:rPr lang="en-US" sz="1800" dirty="0"/>
              <a:t>Goal : First player to reach 200+ points wins.</a:t>
            </a:r>
          </a:p>
          <a:p>
            <a:endParaRPr lang="en-US" sz="1800" dirty="0"/>
          </a:p>
          <a:p>
            <a:r>
              <a:rPr lang="en-US" sz="1800" dirty="0"/>
              <a:t>Turn Choice: Draw or Stop</a:t>
            </a:r>
          </a:p>
          <a:p>
            <a:r>
              <a:rPr lang="en-US" sz="1800" dirty="0"/>
              <a:t>Bust Mechanic: Drawing a duplicate of any number card causes the player to lose all points in the round</a:t>
            </a:r>
          </a:p>
          <a:p>
            <a:endParaRPr lang="en-US" sz="1800" dirty="0"/>
          </a:p>
          <a:p>
            <a:r>
              <a:rPr lang="en-US" sz="1800" dirty="0"/>
              <a:t>Small Simplifications made:</a:t>
            </a:r>
          </a:p>
          <a:p>
            <a:r>
              <a:rPr lang="en-US" sz="1800" dirty="0"/>
              <a:t>Immediate win once player crosses 200-point threshold</a:t>
            </a:r>
          </a:p>
          <a:p>
            <a:r>
              <a:rPr lang="en-US" sz="1800" dirty="0"/>
              <a:t>Excluded 15 Point bonus for 7 cards</a:t>
            </a:r>
          </a:p>
          <a:p>
            <a:r>
              <a:rPr lang="en-US" sz="1800" dirty="0"/>
              <a:t>Fixed special card policy</a:t>
            </a:r>
          </a:p>
        </p:txBody>
      </p:sp>
      <p:pic>
        <p:nvPicPr>
          <p:cNvPr id="2052" name="Picture 4" descr="All cards for Flip 7">
            <a:extLst>
              <a:ext uri="{FF2B5EF4-FFF2-40B4-BE49-F238E27FC236}">
                <a16:creationId xmlns:a16="http://schemas.microsoft.com/office/drawing/2014/main" id="{195F060C-0375-7C41-1A64-C7530B2CB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0343" y="1447800"/>
            <a:ext cx="5797160" cy="42939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A0F5044-51CE-36BC-5C7F-BDA9481C82A9}"/>
              </a:ext>
            </a:extLst>
          </p:cNvPr>
          <p:cNvSpPr/>
          <p:nvPr/>
        </p:nvSpPr>
        <p:spPr>
          <a:xfrm>
            <a:off x="10472038" y="156757"/>
            <a:ext cx="572593"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3</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470198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C808E38-5018-8329-DAF7-9D53909FDB7E}"/>
              </a:ext>
            </a:extLst>
          </p:cNvPr>
          <p:cNvGraphicFramePr>
            <a:graphicFrameLocks noGrp="1" noChangeAspect="1"/>
          </p:cNvGraphicFramePr>
          <p:nvPr>
            <p:ph sz="half" idx="1"/>
            <p:extLst>
              <p:ext uri="{D42A27DB-BD31-4B8C-83A1-F6EECF244321}">
                <p14:modId xmlns:p14="http://schemas.microsoft.com/office/powerpoint/2010/main" val="1639738621"/>
              </p:ext>
            </p:extLst>
          </p:nvPr>
        </p:nvGraphicFramePr>
        <p:xfrm>
          <a:off x="6554301" y="1383688"/>
          <a:ext cx="4314825" cy="4354512"/>
        </p:xfrm>
        <a:graphic>
          <a:graphicData uri="http://schemas.openxmlformats.org/presentationml/2006/ole">
            <mc:AlternateContent xmlns:mc="http://schemas.openxmlformats.org/markup-compatibility/2006">
              <mc:Choice xmlns:v="urn:schemas-microsoft-com:vml" Requires="v">
                <p:oleObj name="Document" r:id="rId3" imgW="8180091" imgH="8255819" progId="Word.OpenDocumentText.12">
                  <p:embed/>
                </p:oleObj>
              </mc:Choice>
              <mc:Fallback>
                <p:oleObj name="Document" r:id="rId3" imgW="8180091" imgH="8255819" progId="Word.OpenDocumentText.12">
                  <p:embed/>
                  <p:pic>
                    <p:nvPicPr>
                      <p:cNvPr id="0" name=""/>
                      <p:cNvPicPr/>
                      <p:nvPr/>
                    </p:nvPicPr>
                    <p:blipFill>
                      <a:blip r:embed="rId4"/>
                      <a:stretch>
                        <a:fillRect/>
                      </a:stretch>
                    </p:blipFill>
                    <p:spPr>
                      <a:xfrm>
                        <a:off x="6554301" y="1383688"/>
                        <a:ext cx="4314825" cy="4354512"/>
                      </a:xfrm>
                      <a:prstGeom prst="rect">
                        <a:avLst/>
                      </a:prstGeom>
                    </p:spPr>
                  </p:pic>
                </p:oleObj>
              </mc:Fallback>
            </mc:AlternateContent>
          </a:graphicData>
        </a:graphic>
      </p:graphicFrame>
      <p:graphicFrame>
        <p:nvGraphicFramePr>
          <p:cNvPr id="12" name="Table 11">
            <a:extLst>
              <a:ext uri="{FF2B5EF4-FFF2-40B4-BE49-F238E27FC236}">
                <a16:creationId xmlns:a16="http://schemas.microsoft.com/office/drawing/2014/main" id="{597183D9-EC6C-73CD-7F7B-1BAE421585D2}"/>
              </a:ext>
            </a:extLst>
          </p:cNvPr>
          <p:cNvGraphicFramePr>
            <a:graphicFrameLocks noGrp="1"/>
          </p:cNvGraphicFramePr>
          <p:nvPr>
            <p:extLst>
              <p:ext uri="{D42A27DB-BD31-4B8C-83A1-F6EECF244321}">
                <p14:modId xmlns:p14="http://schemas.microsoft.com/office/powerpoint/2010/main" val="1039150322"/>
              </p:ext>
            </p:extLst>
          </p:nvPr>
        </p:nvGraphicFramePr>
        <p:xfrm>
          <a:off x="145317" y="1383688"/>
          <a:ext cx="5143624" cy="4841800"/>
        </p:xfrm>
        <a:graphic>
          <a:graphicData uri="http://schemas.openxmlformats.org/drawingml/2006/table">
            <a:tbl>
              <a:tblPr firstRow="1" bandRow="1">
                <a:tableStyleId>{5C22544A-7EE6-4342-B048-85BDC9FD1C3A}</a:tableStyleId>
              </a:tblPr>
              <a:tblGrid>
                <a:gridCol w="2571812">
                  <a:extLst>
                    <a:ext uri="{9D8B030D-6E8A-4147-A177-3AD203B41FA5}">
                      <a16:colId xmlns:a16="http://schemas.microsoft.com/office/drawing/2014/main" val="2129521094"/>
                    </a:ext>
                  </a:extLst>
                </a:gridCol>
                <a:gridCol w="2571812">
                  <a:extLst>
                    <a:ext uri="{9D8B030D-6E8A-4147-A177-3AD203B41FA5}">
                      <a16:colId xmlns:a16="http://schemas.microsoft.com/office/drawing/2014/main" val="3781107676"/>
                    </a:ext>
                  </a:extLst>
                </a:gridCol>
              </a:tblGrid>
              <a:tr h="533847">
                <a:tc>
                  <a:txBody>
                    <a:bodyPr/>
                    <a:lstStyle/>
                    <a:p>
                      <a:r>
                        <a:rPr lang="en-US" dirty="0"/>
                        <a:t>MDP Component</a:t>
                      </a:r>
                    </a:p>
                  </a:txBody>
                  <a:tcPr/>
                </a:tc>
                <a:tc>
                  <a:txBody>
                    <a:bodyPr/>
                    <a:lstStyle/>
                    <a:p>
                      <a:r>
                        <a:rPr lang="en-US" dirty="0"/>
                        <a:t>Flip 7 Implementation</a:t>
                      </a:r>
                    </a:p>
                  </a:txBody>
                  <a:tcPr/>
                </a:tc>
                <a:extLst>
                  <a:ext uri="{0D108BD9-81ED-4DB2-BD59-A6C34878D82A}">
                    <a16:rowId xmlns:a16="http://schemas.microsoft.com/office/drawing/2014/main" val="4117180379"/>
                  </a:ext>
                </a:extLst>
              </a:tr>
              <a:tr h="876760">
                <a:tc>
                  <a:txBody>
                    <a:bodyPr/>
                    <a:lstStyle/>
                    <a:p>
                      <a:r>
                        <a:rPr lang="en-US" dirty="0"/>
                        <a:t>State</a:t>
                      </a:r>
                    </a:p>
                  </a:txBody>
                  <a:tcPr/>
                </a:tc>
                <a:tc>
                  <a:txBody>
                    <a:bodyPr/>
                    <a:lstStyle/>
                    <a:p>
                      <a:r>
                        <a:rPr lang="en-US" dirty="0"/>
                        <a:t>Score bin, Cards Drawn, Score Gap Bin, Second Chance</a:t>
                      </a:r>
                    </a:p>
                  </a:txBody>
                  <a:tcPr/>
                </a:tc>
                <a:extLst>
                  <a:ext uri="{0D108BD9-81ED-4DB2-BD59-A6C34878D82A}">
                    <a16:rowId xmlns:a16="http://schemas.microsoft.com/office/drawing/2014/main" val="2940868459"/>
                  </a:ext>
                </a:extLst>
              </a:tr>
              <a:tr h="409472">
                <a:tc>
                  <a:txBody>
                    <a:bodyPr/>
                    <a:lstStyle/>
                    <a:p>
                      <a:r>
                        <a:rPr lang="en-US" dirty="0"/>
                        <a:t>Actions</a:t>
                      </a:r>
                    </a:p>
                  </a:txBody>
                  <a:tcPr/>
                </a:tc>
                <a:tc>
                  <a:txBody>
                    <a:bodyPr/>
                    <a:lstStyle/>
                    <a:p>
                      <a:r>
                        <a:rPr lang="en-US" dirty="0"/>
                        <a:t>Draw or Stop</a:t>
                      </a:r>
                    </a:p>
                  </a:txBody>
                  <a:tcPr/>
                </a:tc>
                <a:extLst>
                  <a:ext uri="{0D108BD9-81ED-4DB2-BD59-A6C34878D82A}">
                    <a16:rowId xmlns:a16="http://schemas.microsoft.com/office/drawing/2014/main" val="74945766"/>
                  </a:ext>
                </a:extLst>
              </a:tr>
              <a:tr h="613732">
                <a:tc>
                  <a:txBody>
                    <a:bodyPr/>
                    <a:lstStyle/>
                    <a:p>
                      <a:r>
                        <a:rPr lang="en-US" dirty="0"/>
                        <a:t>Transition</a:t>
                      </a:r>
                    </a:p>
                  </a:txBody>
                  <a:tcPr/>
                </a:tc>
                <a:tc>
                  <a:txBody>
                    <a:bodyPr/>
                    <a:lstStyle/>
                    <a:p>
                      <a:r>
                        <a:rPr lang="en-US" dirty="0"/>
                        <a:t>Draw, Bust, Bank, Special Card effect</a:t>
                      </a:r>
                    </a:p>
                  </a:txBody>
                  <a:tcPr/>
                </a:tc>
                <a:extLst>
                  <a:ext uri="{0D108BD9-81ED-4DB2-BD59-A6C34878D82A}">
                    <a16:rowId xmlns:a16="http://schemas.microsoft.com/office/drawing/2014/main" val="3573040272"/>
                  </a:ext>
                </a:extLst>
              </a:tr>
              <a:tr h="1139788">
                <a:tc>
                  <a:txBody>
                    <a:bodyPr/>
                    <a:lstStyle/>
                    <a:p>
                      <a:r>
                        <a:rPr lang="en-US" dirty="0"/>
                        <a:t>Reward</a:t>
                      </a:r>
                    </a:p>
                  </a:txBody>
                  <a:tcPr/>
                </a:tc>
                <a:tc>
                  <a:txBody>
                    <a:bodyPr/>
                    <a:lstStyle/>
                    <a:p>
                      <a:r>
                        <a:rPr lang="en-US" dirty="0"/>
                        <a:t>Banked Score reward, Position Reward, Bust Penalty, Win Bonus</a:t>
                      </a:r>
                    </a:p>
                  </a:txBody>
                  <a:tcPr/>
                </a:tc>
                <a:extLst>
                  <a:ext uri="{0D108BD9-81ED-4DB2-BD59-A6C34878D82A}">
                    <a16:rowId xmlns:a16="http://schemas.microsoft.com/office/drawing/2014/main" val="198905206"/>
                  </a:ext>
                </a:extLst>
              </a:tr>
              <a:tr h="1155281">
                <a:tc>
                  <a:txBody>
                    <a:bodyPr/>
                    <a:lstStyle/>
                    <a:p>
                      <a:r>
                        <a:rPr lang="en-US" dirty="0"/>
                        <a:t>Policy</a:t>
                      </a:r>
                    </a:p>
                  </a:txBody>
                  <a:tcPr/>
                </a:tc>
                <a:tc>
                  <a:txBody>
                    <a:bodyPr/>
                    <a:lstStyle/>
                    <a:p>
                      <a:r>
                        <a:rPr lang="en-US" dirty="0"/>
                        <a:t>Learned Q-Table Action Preference</a:t>
                      </a:r>
                    </a:p>
                  </a:txBody>
                  <a:tcPr/>
                </a:tc>
                <a:extLst>
                  <a:ext uri="{0D108BD9-81ED-4DB2-BD59-A6C34878D82A}">
                    <a16:rowId xmlns:a16="http://schemas.microsoft.com/office/drawing/2014/main" val="3285325105"/>
                  </a:ext>
                </a:extLst>
              </a:tr>
            </a:tbl>
          </a:graphicData>
        </a:graphic>
      </p:graphicFrame>
      <p:sp>
        <p:nvSpPr>
          <p:cNvPr id="17" name="TextBox 16">
            <a:extLst>
              <a:ext uri="{FF2B5EF4-FFF2-40B4-BE49-F238E27FC236}">
                <a16:creationId xmlns:a16="http://schemas.microsoft.com/office/drawing/2014/main" id="{3657CEB5-16C8-BFEB-9A4B-8CDC251F00AD}"/>
              </a:ext>
            </a:extLst>
          </p:cNvPr>
          <p:cNvSpPr txBox="1"/>
          <p:nvPr/>
        </p:nvSpPr>
        <p:spPr>
          <a:xfrm>
            <a:off x="5359556" y="1383688"/>
            <a:ext cx="6832444" cy="6749668"/>
          </a:xfrm>
          <a:prstGeom prst="rect">
            <a:avLst/>
          </a:prstGeom>
          <a:solidFill>
            <a:schemeClr val="bg1"/>
          </a:solidFill>
        </p:spPr>
        <p:txBody>
          <a:bodyPr wrap="square" rtlCol="0">
            <a:spAutoFit/>
          </a:bodyPr>
          <a:lstStyle/>
          <a:p>
            <a:pPr>
              <a:lnSpc>
                <a:spcPts val="1425"/>
              </a:lnSpc>
              <a:buNone/>
            </a:pPr>
            <a:r>
              <a:rPr lang="en-US" b="0" i="1" dirty="0">
                <a:solidFill>
                  <a:srgbClr val="9966B8"/>
                </a:solidFill>
                <a:effectLst/>
                <a:latin typeface="Consolas" panose="020B0609020204030204" pitchFamily="49" charset="0"/>
              </a:rPr>
              <a:t>def</a:t>
            </a:r>
            <a:r>
              <a:rPr lang="en-US" b="0" dirty="0">
                <a:solidFill>
                  <a:srgbClr val="6688CC"/>
                </a:solidFill>
                <a:effectLst/>
                <a:latin typeface="Consolas" panose="020B0609020204030204" pitchFamily="49" charset="0"/>
              </a:rPr>
              <a:t> </a:t>
            </a:r>
            <a:r>
              <a:rPr lang="en-US" b="0" dirty="0" err="1">
                <a:solidFill>
                  <a:srgbClr val="DDBB88"/>
                </a:solidFill>
                <a:effectLst/>
                <a:latin typeface="Consolas" panose="020B0609020204030204" pitchFamily="49" charset="0"/>
              </a:rPr>
              <a:t>get_state</a:t>
            </a:r>
            <a:r>
              <a:rPr lang="en-US" b="0" dirty="0">
                <a:solidFill>
                  <a:srgbClr val="6688CC"/>
                </a:solidFill>
                <a:effectLst/>
                <a:latin typeface="Consolas" panose="020B0609020204030204" pitchFamily="49" charset="0"/>
              </a:rPr>
              <a:t>(</a:t>
            </a:r>
            <a:r>
              <a:rPr lang="en-US" b="0" i="1" dirty="0">
                <a:solidFill>
                  <a:srgbClr val="2277FF"/>
                </a:solidFill>
                <a:effectLst/>
                <a:latin typeface="Consolas" panose="020B0609020204030204" pitchFamily="49" charset="0"/>
              </a:rPr>
              <a:t>player</a:t>
            </a:r>
            <a:r>
              <a:rPr lang="en-US" b="0" dirty="0">
                <a:solidFill>
                  <a:srgbClr val="6688CC"/>
                </a:solidFill>
                <a:effectLst/>
                <a:latin typeface="Consolas" panose="020B0609020204030204" pitchFamily="49" charset="0"/>
              </a:rPr>
              <a:t>: </a:t>
            </a:r>
            <a:r>
              <a:rPr lang="en-US" b="0" i="1" dirty="0" err="1">
                <a:solidFill>
                  <a:srgbClr val="9966B8"/>
                </a:solidFill>
                <a:effectLst/>
                <a:latin typeface="Consolas" panose="020B0609020204030204" pitchFamily="49" charset="0"/>
              </a:rPr>
              <a:t>PlayerState</a:t>
            </a:r>
            <a:r>
              <a:rPr lang="en-US" b="0" dirty="0">
                <a:solidFill>
                  <a:srgbClr val="6688CC"/>
                </a:solidFill>
                <a:effectLst/>
                <a:latin typeface="Consolas" panose="020B0609020204030204" pitchFamily="49" charset="0"/>
              </a:rPr>
              <a:t>, </a:t>
            </a:r>
            <a:r>
              <a:rPr lang="en-US" b="0" i="1" dirty="0">
                <a:solidFill>
                  <a:srgbClr val="2277FF"/>
                </a:solidFill>
                <a:effectLst/>
                <a:latin typeface="Consolas" panose="020B0609020204030204" pitchFamily="49" charset="0"/>
              </a:rPr>
              <a:t>engine</a:t>
            </a:r>
            <a:r>
              <a:rPr lang="en-US" b="0" dirty="0">
                <a:solidFill>
                  <a:srgbClr val="6688CC"/>
                </a:solidFill>
                <a:effectLst/>
                <a:latin typeface="Consolas" panose="020B0609020204030204" pitchFamily="49" charset="0"/>
              </a:rPr>
              <a:t>: </a:t>
            </a:r>
            <a:r>
              <a:rPr lang="en-US" b="0" i="1" dirty="0">
                <a:solidFill>
                  <a:srgbClr val="9966B8"/>
                </a:solidFill>
                <a:effectLst/>
                <a:latin typeface="Consolas" panose="020B0609020204030204" pitchFamily="49" charset="0"/>
              </a:rPr>
              <a:t>Flip7RoundEngine</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player_idx</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 -&gt; </a:t>
            </a:r>
            <a:r>
              <a:rPr lang="en-US" b="0" i="1" dirty="0">
                <a:solidFill>
                  <a:srgbClr val="9966B8"/>
                </a:solidFill>
                <a:effectLst/>
                <a:latin typeface="Consolas" panose="020B0609020204030204" pitchFamily="49" charset="0"/>
              </a:rPr>
              <a:t>Tuple</a:t>
            </a:r>
            <a:r>
              <a:rPr lang="en-US" b="0" dirty="0">
                <a:solidFill>
                  <a:srgbClr val="6688CC"/>
                </a:solidFill>
                <a:effectLst/>
                <a:latin typeface="Consolas" panose="020B0609020204030204" pitchFamily="49" charset="0"/>
              </a:rPr>
              <a:t>:</a:t>
            </a:r>
          </a:p>
          <a:p>
            <a:pPr>
              <a:lnSpc>
                <a:spcPts val="1425"/>
              </a:lnSpc>
              <a:buNone/>
            </a:pP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score_bin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get_score_bin</a:t>
            </a:r>
            <a:r>
              <a:rPr lang="en-US" b="0" dirty="0">
                <a:solidFill>
                  <a:srgbClr val="6688CC"/>
                </a:solidFill>
                <a:effectLst/>
                <a:latin typeface="Consolas" panose="020B0609020204030204" pitchFamily="49" charset="0"/>
              </a:rPr>
              <a:t>(</a:t>
            </a:r>
            <a:r>
              <a:rPr lang="en-US" b="0" i="1" dirty="0" err="1">
                <a:solidFill>
                  <a:srgbClr val="2277FF"/>
                </a:solidFill>
                <a:effectLst/>
                <a:latin typeface="Consolas" panose="020B0609020204030204" pitchFamily="49" charset="0"/>
              </a:rPr>
              <a:t>player</a:t>
            </a:r>
            <a:r>
              <a:rPr lang="en-US" b="0" dirty="0" err="1">
                <a:solidFill>
                  <a:srgbClr val="6688CC"/>
                </a:solidFill>
                <a:effectLst/>
                <a:latin typeface="Consolas" panose="020B0609020204030204" pitchFamily="49" charset="0"/>
              </a:rPr>
              <a:t>.round_points</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cards_drawn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player</a:t>
            </a:r>
            <a:r>
              <a:rPr lang="en-US" b="0" dirty="0" err="1">
                <a:solidFill>
                  <a:srgbClr val="6688CC"/>
                </a:solidFill>
                <a:effectLst/>
                <a:latin typeface="Consolas" panose="020B0609020204030204" pitchFamily="49" charset="0"/>
              </a:rPr>
              <a:t>.cards_drawn_count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has_second_chance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a:t>
            </a:r>
            <a:r>
              <a:rPr lang="en-US" b="0" i="1" dirty="0" err="1">
                <a:solidFill>
                  <a:srgbClr val="2277FF"/>
                </a:solidFill>
                <a:effectLst/>
                <a:latin typeface="Consolas" panose="020B0609020204030204" pitchFamily="49" charset="0"/>
              </a:rPr>
              <a:t>player</a:t>
            </a:r>
            <a:r>
              <a:rPr lang="en-US" b="0" dirty="0" err="1">
                <a:solidFill>
                  <a:srgbClr val="6688CC"/>
                </a:solidFill>
                <a:effectLst/>
                <a:latin typeface="Consolas" panose="020B0609020204030204" pitchFamily="49" charset="0"/>
              </a:rPr>
              <a:t>.second_chance_available</a:t>
            </a:r>
            <a:r>
              <a:rPr lang="en-US" b="0" dirty="0">
                <a:solidFill>
                  <a:srgbClr val="6688CC"/>
                </a:solidFill>
                <a:effectLst/>
                <a:latin typeface="Consolas" panose="020B0609020204030204" pitchFamily="49" charset="0"/>
              </a:rPr>
              <a:t>)</a:t>
            </a: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leading_idx</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engine</a:t>
            </a:r>
            <a:r>
              <a:rPr lang="en-US" b="0" dirty="0" err="1">
                <a:solidFill>
                  <a:srgbClr val="6688CC"/>
                </a:solidFill>
                <a:effectLst/>
                <a:latin typeface="Consolas" panose="020B0609020204030204" pitchFamily="49" charset="0"/>
              </a:rPr>
              <a:t>.get_leading_opponent</a:t>
            </a:r>
            <a:r>
              <a:rPr lang="en-US" b="0" dirty="0">
                <a:solidFill>
                  <a:srgbClr val="6688CC"/>
                </a:solidFill>
                <a:effectLst/>
                <a:latin typeface="Consolas" panose="020B0609020204030204" pitchFamily="49" charset="0"/>
              </a:rPr>
              <a:t>(</a:t>
            </a:r>
            <a:r>
              <a:rPr lang="en-US" b="0" i="1" dirty="0" err="1">
                <a:solidFill>
                  <a:srgbClr val="2277FF"/>
                </a:solidFill>
                <a:effectLst/>
                <a:latin typeface="Consolas" panose="020B0609020204030204" pitchFamily="49" charset="0"/>
              </a:rPr>
              <a:t>player_idx</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if</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leading_idx</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is</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not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None</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leading_score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engine</a:t>
            </a:r>
            <a:r>
              <a:rPr lang="en-US" b="0" dirty="0" err="1">
                <a:solidFill>
                  <a:srgbClr val="6688CC"/>
                </a:solidFill>
                <a:effectLst/>
                <a:latin typeface="Consolas" panose="020B0609020204030204" pitchFamily="49" charset="0"/>
              </a:rPr>
              <a:t>.players</a:t>
            </a:r>
            <a:r>
              <a:rPr lang="en-US" b="0" dirty="0">
                <a:solidFill>
                  <a:srgbClr val="6688CC"/>
                </a:solidFill>
                <a:effectLst/>
                <a:latin typeface="Consolas" panose="020B0609020204030204" pitchFamily="49" charset="0"/>
              </a:rPr>
              <a:t>[</a:t>
            </a:r>
            <a:r>
              <a:rPr lang="en-US" b="0" dirty="0" err="1">
                <a:solidFill>
                  <a:srgbClr val="6688CC"/>
                </a:solidFill>
                <a:effectLst/>
                <a:latin typeface="Consolas" panose="020B0609020204030204" pitchFamily="49" charset="0"/>
              </a:rPr>
              <a:t>leading_idx</a:t>
            </a:r>
            <a:r>
              <a:rPr lang="en-US" b="0" dirty="0">
                <a:solidFill>
                  <a:srgbClr val="6688CC"/>
                </a:solidFill>
                <a:effectLst/>
                <a:latin typeface="Consolas" panose="020B0609020204030204" pitchFamily="49" charset="0"/>
              </a:rPr>
              <a:t>].</a:t>
            </a:r>
            <a:r>
              <a:rPr lang="en-US" b="0" dirty="0" err="1">
                <a:solidFill>
                  <a:srgbClr val="6688CC"/>
                </a:solidFill>
                <a:effectLst/>
                <a:latin typeface="Consolas" panose="020B0609020204030204" pitchFamily="49" charset="0"/>
              </a:rPr>
              <a:t>total_points</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engine</a:t>
            </a:r>
            <a:r>
              <a:rPr lang="en-US" b="0" dirty="0" err="1">
                <a:solidFill>
                  <a:srgbClr val="6688CC"/>
                </a:solidFill>
                <a:effectLst/>
                <a:latin typeface="Consolas" panose="020B0609020204030204" pitchFamily="49" charset="0"/>
              </a:rPr>
              <a:t>.players</a:t>
            </a:r>
            <a:r>
              <a:rPr lang="en-US" b="0" dirty="0">
                <a:solidFill>
                  <a:srgbClr val="6688CC"/>
                </a:solidFill>
                <a:effectLst/>
                <a:latin typeface="Consolas" panose="020B0609020204030204" pitchFamily="49" charset="0"/>
              </a:rPr>
              <a:t>[</a:t>
            </a:r>
            <a:r>
              <a:rPr lang="en-US" b="0" dirty="0" err="1">
                <a:solidFill>
                  <a:srgbClr val="6688CC"/>
                </a:solidFill>
                <a:effectLst/>
                <a:latin typeface="Consolas" panose="020B0609020204030204" pitchFamily="49" charset="0"/>
              </a:rPr>
              <a:t>leading_idx</a:t>
            </a:r>
            <a:r>
              <a:rPr lang="en-US" b="0" dirty="0">
                <a:solidFill>
                  <a:srgbClr val="6688CC"/>
                </a:solidFill>
                <a:effectLst/>
                <a:latin typeface="Consolas" panose="020B0609020204030204" pitchFamily="49" charset="0"/>
              </a:rPr>
              <a:t>].</a:t>
            </a:r>
            <a:r>
              <a:rPr lang="en-US" b="0" dirty="0" err="1">
                <a:solidFill>
                  <a:srgbClr val="6688CC"/>
                </a:solidFill>
                <a:effectLst/>
                <a:latin typeface="Consolas" panose="020B0609020204030204" pitchFamily="49" charset="0"/>
              </a:rPr>
              <a:t>round_points</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my_score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player</a:t>
            </a:r>
            <a:r>
              <a:rPr lang="en-US" b="0" dirty="0" err="1">
                <a:solidFill>
                  <a:srgbClr val="6688CC"/>
                </a:solidFill>
                <a:effectLst/>
                <a:latin typeface="Consolas" panose="020B0609020204030204" pitchFamily="49" charset="0"/>
              </a:rPr>
              <a:t>.total_points</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player</a:t>
            </a:r>
            <a:r>
              <a:rPr lang="en-US" b="0" dirty="0" err="1">
                <a:solidFill>
                  <a:srgbClr val="6688CC"/>
                </a:solidFill>
                <a:effectLst/>
                <a:latin typeface="Consolas" panose="020B0609020204030204" pitchFamily="49" charset="0"/>
              </a:rPr>
              <a:t>.round_points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raw_gap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leading_score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my_score</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positive = behind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else</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raw_gap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if</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raw_gap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&gt;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45</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gap_bin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3</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significantly behind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raw_gap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&gt;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15</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gap_bin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moderately behind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raw_gap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&gt;=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15</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gap_bin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roughly even</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else</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gap_bin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ahead</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score_bin</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cards_drawn</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gap_bin</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has_second_chance</a:t>
            </a:r>
            <a:r>
              <a:rPr lang="en-US" b="0" dirty="0">
                <a:solidFill>
                  <a:srgbClr val="6688CC"/>
                </a:solidFill>
                <a:effectLst/>
                <a:latin typeface="Consolas" panose="020B0609020204030204" pitchFamily="49" charset="0"/>
              </a:rPr>
              <a:t>)</a:t>
            </a:r>
          </a:p>
        </p:txBody>
      </p:sp>
      <p:sp>
        <p:nvSpPr>
          <p:cNvPr id="2" name="Title 1">
            <a:extLst>
              <a:ext uri="{FF2B5EF4-FFF2-40B4-BE49-F238E27FC236}">
                <a16:creationId xmlns:a16="http://schemas.microsoft.com/office/drawing/2014/main" id="{B80190C0-B9A7-26C7-AA1D-7B1A997FEDB8}"/>
              </a:ext>
            </a:extLst>
          </p:cNvPr>
          <p:cNvSpPr>
            <a:spLocks noGrp="1"/>
          </p:cNvSpPr>
          <p:nvPr>
            <p:ph type="title"/>
          </p:nvPr>
        </p:nvSpPr>
        <p:spPr>
          <a:xfrm>
            <a:off x="646112" y="339969"/>
            <a:ext cx="9787426" cy="926123"/>
          </a:xfrm>
        </p:spPr>
        <p:txBody>
          <a:bodyPr/>
          <a:lstStyle/>
          <a:p>
            <a:r>
              <a:rPr lang="en-US" dirty="0"/>
              <a:t>MDP Formulation</a:t>
            </a:r>
          </a:p>
        </p:txBody>
      </p:sp>
      <p:sp>
        <p:nvSpPr>
          <p:cNvPr id="20" name="Rectangle 19">
            <a:extLst>
              <a:ext uri="{FF2B5EF4-FFF2-40B4-BE49-F238E27FC236}">
                <a16:creationId xmlns:a16="http://schemas.microsoft.com/office/drawing/2014/main" id="{408937F8-B193-1288-8957-7895166DF16B}"/>
              </a:ext>
            </a:extLst>
          </p:cNvPr>
          <p:cNvSpPr/>
          <p:nvPr/>
        </p:nvSpPr>
        <p:spPr>
          <a:xfrm>
            <a:off x="10472038" y="156757"/>
            <a:ext cx="572593"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4</a:t>
            </a:r>
          </a:p>
        </p:txBody>
      </p:sp>
      <p:sp>
        <p:nvSpPr>
          <p:cNvPr id="21" name="TextBox 20">
            <a:extLst>
              <a:ext uri="{FF2B5EF4-FFF2-40B4-BE49-F238E27FC236}">
                <a16:creationId xmlns:a16="http://schemas.microsoft.com/office/drawing/2014/main" id="{B6EC0DD1-30A9-F9BA-0737-6416010CA60B}"/>
              </a:ext>
            </a:extLst>
          </p:cNvPr>
          <p:cNvSpPr txBox="1"/>
          <p:nvPr/>
        </p:nvSpPr>
        <p:spPr>
          <a:xfrm>
            <a:off x="215932" y="6390589"/>
            <a:ext cx="5143624" cy="276999"/>
          </a:xfrm>
          <a:prstGeom prst="rect">
            <a:avLst/>
          </a:prstGeom>
          <a:noFill/>
        </p:spPr>
        <p:txBody>
          <a:bodyPr wrap="square" rtlCol="0">
            <a:spAutoFit/>
          </a:bodyPr>
          <a:lstStyle/>
          <a:p>
            <a:r>
              <a:rPr lang="en-US" sz="1200" dirty="0"/>
              <a:t>(Russell &amp; Norvig, Artificial Intelligence: A Modern Approach, 2021)</a:t>
            </a:r>
          </a:p>
        </p:txBody>
      </p:sp>
    </p:spTree>
    <p:extLst>
      <p:ext uri="{BB962C8B-B14F-4D97-AF65-F5344CB8AC3E}">
        <p14:creationId xmlns:p14="http://schemas.microsoft.com/office/powerpoint/2010/main" val="176689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30000" fill="hold"/>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B809-43A3-120D-34D4-4F65543BE7DA}"/>
              </a:ext>
            </a:extLst>
          </p:cNvPr>
          <p:cNvSpPr>
            <a:spLocks noGrp="1"/>
          </p:cNvSpPr>
          <p:nvPr>
            <p:ph type="title"/>
          </p:nvPr>
        </p:nvSpPr>
        <p:spPr/>
        <p:txBody>
          <a:bodyPr/>
          <a:lstStyle/>
          <a:p>
            <a:r>
              <a:rPr lang="en-US" dirty="0"/>
              <a:t>Heuristic Agents</a:t>
            </a:r>
          </a:p>
        </p:txBody>
      </p:sp>
      <p:sp>
        <p:nvSpPr>
          <p:cNvPr id="8" name="TextBox 7">
            <a:extLst>
              <a:ext uri="{FF2B5EF4-FFF2-40B4-BE49-F238E27FC236}">
                <a16:creationId xmlns:a16="http://schemas.microsoft.com/office/drawing/2014/main" id="{76F60A07-7A43-CB20-9AB6-45F7D0AEA698}"/>
              </a:ext>
            </a:extLst>
          </p:cNvPr>
          <p:cNvSpPr txBox="1"/>
          <p:nvPr/>
        </p:nvSpPr>
        <p:spPr>
          <a:xfrm>
            <a:off x="1814225" y="3518705"/>
            <a:ext cx="9006176" cy="3970318"/>
          </a:xfrm>
          <a:prstGeom prst="rect">
            <a:avLst/>
          </a:prstGeom>
          <a:noFill/>
        </p:spPr>
        <p:txBody>
          <a:bodyPr wrap="square" rtlCol="0">
            <a:spAutoFit/>
          </a:bodyPr>
          <a:lstStyle/>
          <a:p>
            <a:r>
              <a:rPr lang="en-US" i="1" dirty="0"/>
              <a:t>def</a:t>
            </a:r>
            <a:r>
              <a:rPr lang="en-US" dirty="0"/>
              <a:t> </a:t>
            </a:r>
            <a:r>
              <a:rPr lang="en-US" dirty="0" err="1"/>
              <a:t>conservative_policy</a:t>
            </a:r>
            <a:r>
              <a:rPr lang="en-US" dirty="0"/>
              <a:t>(</a:t>
            </a:r>
            <a:r>
              <a:rPr lang="en-US" i="1" dirty="0"/>
              <a:t>player</a:t>
            </a:r>
            <a:r>
              <a:rPr lang="en-US" dirty="0"/>
              <a:t>: </a:t>
            </a:r>
            <a:r>
              <a:rPr lang="en-US" i="1" dirty="0" err="1"/>
              <a:t>PlayerState</a:t>
            </a:r>
            <a:r>
              <a:rPr lang="en-US" dirty="0"/>
              <a:t>,</a:t>
            </a:r>
          </a:p>
          <a:p>
            <a:r>
              <a:rPr lang="en-US" dirty="0"/>
              <a:t>                        </a:t>
            </a:r>
            <a:r>
              <a:rPr lang="en-US" i="1" dirty="0" err="1"/>
              <a:t>stop_threshold</a:t>
            </a:r>
            <a:r>
              <a:rPr lang="en-US" dirty="0"/>
              <a:t>: </a:t>
            </a:r>
            <a:r>
              <a:rPr lang="en-US" u="sng" dirty="0"/>
              <a:t>int</a:t>
            </a:r>
            <a:r>
              <a:rPr lang="en-US" dirty="0"/>
              <a:t> = 18,</a:t>
            </a:r>
          </a:p>
          <a:p>
            <a:r>
              <a:rPr lang="en-US" dirty="0"/>
              <a:t>                        </a:t>
            </a:r>
            <a:r>
              <a:rPr lang="en-US" i="1" dirty="0" err="1"/>
              <a:t>max_cards</a:t>
            </a:r>
            <a:r>
              <a:rPr lang="en-US" dirty="0"/>
              <a:t>: </a:t>
            </a:r>
            <a:r>
              <a:rPr lang="en-US" u="sng" dirty="0"/>
              <a:t>int</a:t>
            </a:r>
            <a:r>
              <a:rPr lang="en-US" dirty="0"/>
              <a:t> = 4) -&gt; </a:t>
            </a:r>
            <a:r>
              <a:rPr lang="en-US" u="sng" dirty="0"/>
              <a:t>str</a:t>
            </a:r>
            <a:r>
              <a:rPr lang="en-US" dirty="0"/>
              <a:t>:</a:t>
            </a:r>
          </a:p>
          <a:p>
            <a:r>
              <a:rPr lang="en-US" dirty="0"/>
              <a:t>    """</a:t>
            </a:r>
          </a:p>
          <a:p>
            <a:r>
              <a:rPr lang="en-US" dirty="0"/>
              <a:t>    Stops at a low score threshold or low card count.</a:t>
            </a:r>
          </a:p>
          <a:p>
            <a:r>
              <a:rPr lang="en-US" dirty="0"/>
              <a:t>    Prioritizes safety over accumulation.</a:t>
            </a:r>
          </a:p>
          <a:p>
            <a:r>
              <a:rPr lang="en-US" dirty="0"/>
              <a:t>    Empirical avg banking: 21.6 points per stop during 3 agent baseline testing.</a:t>
            </a:r>
          </a:p>
          <a:p>
            <a:r>
              <a:rPr lang="en-US" dirty="0"/>
              <a:t>    """</a:t>
            </a:r>
          </a:p>
          <a:p>
            <a:r>
              <a:rPr lang="en-US" dirty="0"/>
              <a:t>    if </a:t>
            </a:r>
            <a:r>
              <a:rPr lang="en-US" i="1" dirty="0" err="1"/>
              <a:t>player</a:t>
            </a:r>
            <a:r>
              <a:rPr lang="en-US" dirty="0" err="1"/>
              <a:t>.round_points</a:t>
            </a:r>
            <a:r>
              <a:rPr lang="en-US" dirty="0"/>
              <a:t> &gt;= </a:t>
            </a:r>
            <a:r>
              <a:rPr lang="en-US" i="1" dirty="0" err="1"/>
              <a:t>stop_threshold</a:t>
            </a:r>
            <a:r>
              <a:rPr lang="en-US" dirty="0"/>
              <a:t> or \</a:t>
            </a:r>
          </a:p>
          <a:p>
            <a:r>
              <a:rPr lang="en-US" dirty="0"/>
              <a:t>       </a:t>
            </a:r>
            <a:r>
              <a:rPr lang="en-US" i="1" dirty="0" err="1"/>
              <a:t>player</a:t>
            </a:r>
            <a:r>
              <a:rPr lang="en-US" dirty="0" err="1"/>
              <a:t>.cards_drawn_count</a:t>
            </a:r>
            <a:r>
              <a:rPr lang="en-US" dirty="0"/>
              <a:t> &gt;= </a:t>
            </a:r>
            <a:r>
              <a:rPr lang="en-US" i="1" dirty="0" err="1"/>
              <a:t>max_cards</a:t>
            </a:r>
            <a:r>
              <a:rPr lang="en-US" dirty="0"/>
              <a:t>:</a:t>
            </a:r>
          </a:p>
          <a:p>
            <a:r>
              <a:rPr lang="en-US" dirty="0"/>
              <a:t>        return "STOP"</a:t>
            </a:r>
          </a:p>
          <a:p>
            <a:r>
              <a:rPr lang="en-US" dirty="0"/>
              <a:t>    return "DRAW"</a:t>
            </a:r>
          </a:p>
          <a:p>
            <a:br>
              <a:rPr lang="en-US" dirty="0"/>
            </a:br>
            <a:endParaRPr lang="en-US" dirty="0"/>
          </a:p>
        </p:txBody>
      </p:sp>
      <p:graphicFrame>
        <p:nvGraphicFramePr>
          <p:cNvPr id="7" name="Content Placeholder 6">
            <a:extLst>
              <a:ext uri="{FF2B5EF4-FFF2-40B4-BE49-F238E27FC236}">
                <a16:creationId xmlns:a16="http://schemas.microsoft.com/office/drawing/2014/main" id="{1EFBFBF1-F1D0-683C-C4F0-A7E755674D28}"/>
              </a:ext>
            </a:extLst>
          </p:cNvPr>
          <p:cNvGraphicFramePr>
            <a:graphicFrameLocks noGrp="1"/>
          </p:cNvGraphicFramePr>
          <p:nvPr>
            <p:ph sz="half" idx="2"/>
            <p:extLst>
              <p:ext uri="{D42A27DB-BD31-4B8C-83A1-F6EECF244321}">
                <p14:modId xmlns:p14="http://schemas.microsoft.com/office/powerpoint/2010/main" val="1079503664"/>
              </p:ext>
            </p:extLst>
          </p:nvPr>
        </p:nvGraphicFramePr>
        <p:xfrm>
          <a:off x="813944" y="1493135"/>
          <a:ext cx="10124132" cy="2025570"/>
        </p:xfrm>
        <a:graphic>
          <a:graphicData uri="http://schemas.openxmlformats.org/drawingml/2006/table">
            <a:tbl>
              <a:tblPr firstRow="1" bandRow="1">
                <a:tableStyleId>{5C22544A-7EE6-4342-B048-85BDC9FD1C3A}</a:tableStyleId>
              </a:tblPr>
              <a:tblGrid>
                <a:gridCol w="1755636">
                  <a:extLst>
                    <a:ext uri="{9D8B030D-6E8A-4147-A177-3AD203B41FA5}">
                      <a16:colId xmlns:a16="http://schemas.microsoft.com/office/drawing/2014/main" val="1465297044"/>
                    </a:ext>
                  </a:extLst>
                </a:gridCol>
                <a:gridCol w="2858947">
                  <a:extLst>
                    <a:ext uri="{9D8B030D-6E8A-4147-A177-3AD203B41FA5}">
                      <a16:colId xmlns:a16="http://schemas.microsoft.com/office/drawing/2014/main" val="2967404681"/>
                    </a:ext>
                  </a:extLst>
                </a:gridCol>
                <a:gridCol w="2978516">
                  <a:extLst>
                    <a:ext uri="{9D8B030D-6E8A-4147-A177-3AD203B41FA5}">
                      <a16:colId xmlns:a16="http://schemas.microsoft.com/office/drawing/2014/main" val="414629360"/>
                    </a:ext>
                  </a:extLst>
                </a:gridCol>
                <a:gridCol w="2531033">
                  <a:extLst>
                    <a:ext uri="{9D8B030D-6E8A-4147-A177-3AD203B41FA5}">
                      <a16:colId xmlns:a16="http://schemas.microsoft.com/office/drawing/2014/main" val="3679916632"/>
                    </a:ext>
                  </a:extLst>
                </a:gridCol>
              </a:tblGrid>
              <a:tr h="459371">
                <a:tc>
                  <a:txBody>
                    <a:bodyPr/>
                    <a:lstStyle/>
                    <a:p>
                      <a:r>
                        <a:rPr lang="en-US" dirty="0"/>
                        <a:t>Agent</a:t>
                      </a:r>
                    </a:p>
                  </a:txBody>
                  <a:tcPr/>
                </a:tc>
                <a:tc>
                  <a:txBody>
                    <a:bodyPr/>
                    <a:lstStyle/>
                    <a:p>
                      <a:r>
                        <a:rPr lang="en-US" dirty="0"/>
                        <a:t>Stop Rule</a:t>
                      </a:r>
                    </a:p>
                  </a:txBody>
                  <a:tcPr/>
                </a:tc>
                <a:tc>
                  <a:txBody>
                    <a:bodyPr/>
                    <a:lstStyle/>
                    <a:p>
                      <a:r>
                        <a:rPr lang="en-US" dirty="0"/>
                        <a:t>Risk Profile</a:t>
                      </a:r>
                    </a:p>
                  </a:txBody>
                  <a:tcPr/>
                </a:tc>
                <a:tc>
                  <a:txBody>
                    <a:bodyPr/>
                    <a:lstStyle/>
                    <a:p>
                      <a:r>
                        <a:rPr lang="en-US" dirty="0"/>
                        <a:t>Baseline Result</a:t>
                      </a:r>
                    </a:p>
                  </a:txBody>
                  <a:tcPr/>
                </a:tc>
                <a:extLst>
                  <a:ext uri="{0D108BD9-81ED-4DB2-BD59-A6C34878D82A}">
                    <a16:rowId xmlns:a16="http://schemas.microsoft.com/office/drawing/2014/main" val="1849801324"/>
                  </a:ext>
                </a:extLst>
              </a:tr>
              <a:tr h="528224">
                <a:tc>
                  <a:txBody>
                    <a:bodyPr/>
                    <a:lstStyle/>
                    <a:p>
                      <a:r>
                        <a:rPr lang="en-US" dirty="0"/>
                        <a:t>Conservative</a:t>
                      </a:r>
                    </a:p>
                  </a:txBody>
                  <a:tcPr/>
                </a:tc>
                <a:tc>
                  <a:txBody>
                    <a:bodyPr/>
                    <a:lstStyle/>
                    <a:p>
                      <a:r>
                        <a:rPr lang="en-US" dirty="0"/>
                        <a:t>Stop at 18pts or 4 cards.</a:t>
                      </a:r>
                    </a:p>
                  </a:txBody>
                  <a:tcPr/>
                </a:tc>
                <a:tc>
                  <a:txBody>
                    <a:bodyPr/>
                    <a:lstStyle/>
                    <a:p>
                      <a:r>
                        <a:rPr lang="en-US" dirty="0"/>
                        <a:t>Low Risk</a:t>
                      </a:r>
                    </a:p>
                  </a:txBody>
                  <a:tcPr/>
                </a:tc>
                <a:tc>
                  <a:txBody>
                    <a:bodyPr/>
                    <a:lstStyle/>
                    <a:p>
                      <a:r>
                        <a:rPr lang="en-US" dirty="0"/>
                        <a:t>Lower Scoring, Safe</a:t>
                      </a:r>
                    </a:p>
                  </a:txBody>
                  <a:tcPr/>
                </a:tc>
                <a:extLst>
                  <a:ext uri="{0D108BD9-81ED-4DB2-BD59-A6C34878D82A}">
                    <a16:rowId xmlns:a16="http://schemas.microsoft.com/office/drawing/2014/main" val="4262753393"/>
                  </a:ext>
                </a:extLst>
              </a:tr>
              <a:tr h="528224">
                <a:tc>
                  <a:txBody>
                    <a:bodyPr/>
                    <a:lstStyle/>
                    <a:p>
                      <a:r>
                        <a:rPr lang="en-US" dirty="0"/>
                        <a:t>Balanced</a:t>
                      </a:r>
                    </a:p>
                  </a:txBody>
                  <a:tcPr/>
                </a:tc>
                <a:tc>
                  <a:txBody>
                    <a:bodyPr/>
                    <a:lstStyle/>
                    <a:p>
                      <a:r>
                        <a:rPr lang="en-US" dirty="0"/>
                        <a:t>Stop at 26 pts or 6 cards</a:t>
                      </a:r>
                    </a:p>
                  </a:txBody>
                  <a:tcPr/>
                </a:tc>
                <a:tc>
                  <a:txBody>
                    <a:bodyPr/>
                    <a:lstStyle/>
                    <a:p>
                      <a:r>
                        <a:rPr lang="en-US" dirty="0"/>
                        <a:t>Moderate Risk</a:t>
                      </a:r>
                    </a:p>
                  </a:txBody>
                  <a:tcPr/>
                </a:tc>
                <a:tc>
                  <a:txBody>
                    <a:bodyPr/>
                    <a:lstStyle/>
                    <a:p>
                      <a:r>
                        <a:rPr lang="en-US" dirty="0"/>
                        <a:t>Middle Baseline</a:t>
                      </a:r>
                    </a:p>
                  </a:txBody>
                  <a:tcPr/>
                </a:tc>
                <a:extLst>
                  <a:ext uri="{0D108BD9-81ED-4DB2-BD59-A6C34878D82A}">
                    <a16:rowId xmlns:a16="http://schemas.microsoft.com/office/drawing/2014/main" val="2087087456"/>
                  </a:ext>
                </a:extLst>
              </a:tr>
              <a:tr h="509751">
                <a:tc>
                  <a:txBody>
                    <a:bodyPr/>
                    <a:lstStyle/>
                    <a:p>
                      <a:r>
                        <a:rPr lang="en-US" dirty="0"/>
                        <a:t>Greedy</a:t>
                      </a:r>
                    </a:p>
                  </a:txBody>
                  <a:tcPr/>
                </a:tc>
                <a:tc>
                  <a:txBody>
                    <a:bodyPr/>
                    <a:lstStyle/>
                    <a:p>
                      <a:r>
                        <a:rPr lang="en-US" dirty="0"/>
                        <a:t>Stop at 30 pts or 6 cards</a:t>
                      </a:r>
                    </a:p>
                  </a:txBody>
                  <a:tcPr/>
                </a:tc>
                <a:tc>
                  <a:txBody>
                    <a:bodyPr/>
                    <a:lstStyle/>
                    <a:p>
                      <a:r>
                        <a:rPr lang="en-US" dirty="0"/>
                        <a:t>High Risk</a:t>
                      </a:r>
                    </a:p>
                  </a:txBody>
                  <a:tcPr/>
                </a:tc>
                <a:tc>
                  <a:txBody>
                    <a:bodyPr/>
                    <a:lstStyle/>
                    <a:p>
                      <a:r>
                        <a:rPr lang="en-US" dirty="0"/>
                        <a:t>Strongest Heuristic</a:t>
                      </a:r>
                    </a:p>
                  </a:txBody>
                  <a:tcPr/>
                </a:tc>
                <a:extLst>
                  <a:ext uri="{0D108BD9-81ED-4DB2-BD59-A6C34878D82A}">
                    <a16:rowId xmlns:a16="http://schemas.microsoft.com/office/drawing/2014/main" val="2759692481"/>
                  </a:ext>
                </a:extLst>
              </a:tr>
            </a:tbl>
          </a:graphicData>
        </a:graphic>
      </p:graphicFrame>
      <p:sp>
        <p:nvSpPr>
          <p:cNvPr id="9" name="Rectangle 8">
            <a:extLst>
              <a:ext uri="{FF2B5EF4-FFF2-40B4-BE49-F238E27FC236}">
                <a16:creationId xmlns:a16="http://schemas.microsoft.com/office/drawing/2014/main" id="{135CD4FD-087B-AF9F-7AFA-65A333A91CB5}"/>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5</a:t>
            </a:r>
          </a:p>
        </p:txBody>
      </p:sp>
    </p:spTree>
    <p:extLst>
      <p:ext uri="{BB962C8B-B14F-4D97-AF65-F5344CB8AC3E}">
        <p14:creationId xmlns:p14="http://schemas.microsoft.com/office/powerpoint/2010/main" val="186460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2CE42-B983-E1D6-0471-F4C7E2202D7B}"/>
              </a:ext>
            </a:extLst>
          </p:cNvPr>
          <p:cNvSpPr>
            <a:spLocks noGrp="1"/>
          </p:cNvSpPr>
          <p:nvPr>
            <p:ph type="title"/>
          </p:nvPr>
        </p:nvSpPr>
        <p:spPr/>
        <p:txBody>
          <a:bodyPr/>
          <a:lstStyle/>
          <a:p>
            <a:r>
              <a:rPr lang="en-US" dirty="0"/>
              <a:t>System Architecture</a:t>
            </a:r>
          </a:p>
        </p:txBody>
      </p:sp>
      <p:pic>
        <p:nvPicPr>
          <p:cNvPr id="6" name="Picture 5">
            <a:extLst>
              <a:ext uri="{FF2B5EF4-FFF2-40B4-BE49-F238E27FC236}">
                <a16:creationId xmlns:a16="http://schemas.microsoft.com/office/drawing/2014/main" id="{558E2DDF-3D6C-5A32-D0C1-008DE8758A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7933" y="1221123"/>
            <a:ext cx="7772400" cy="5566150"/>
          </a:xfrm>
          <a:prstGeom prst="rect">
            <a:avLst/>
          </a:prstGeom>
        </p:spPr>
      </p:pic>
      <p:sp>
        <p:nvSpPr>
          <p:cNvPr id="7" name="Rectangle 6">
            <a:extLst>
              <a:ext uri="{FF2B5EF4-FFF2-40B4-BE49-F238E27FC236}">
                <a16:creationId xmlns:a16="http://schemas.microsoft.com/office/drawing/2014/main" id="{2165BC09-EF91-ED59-5F4D-99DE032919B8}"/>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6</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406808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54396-7F98-60C2-5EFF-CC87D2E12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261CA-F3A3-67A7-FFD2-230F5C6C0844}"/>
              </a:ext>
            </a:extLst>
          </p:cNvPr>
          <p:cNvSpPr>
            <a:spLocks noGrp="1"/>
          </p:cNvSpPr>
          <p:nvPr>
            <p:ph type="title"/>
          </p:nvPr>
        </p:nvSpPr>
        <p:spPr>
          <a:xfrm>
            <a:off x="498966" y="186531"/>
            <a:ext cx="9404723" cy="801441"/>
          </a:xfrm>
        </p:spPr>
        <p:txBody>
          <a:bodyPr/>
          <a:lstStyle/>
          <a:p>
            <a:r>
              <a:rPr lang="en-US" dirty="0"/>
              <a:t>Q-Learning Agent Design</a:t>
            </a:r>
          </a:p>
        </p:txBody>
      </p:sp>
      <p:graphicFrame>
        <p:nvGraphicFramePr>
          <p:cNvPr id="6" name="Content Placeholder 5">
            <a:extLst>
              <a:ext uri="{FF2B5EF4-FFF2-40B4-BE49-F238E27FC236}">
                <a16:creationId xmlns:a16="http://schemas.microsoft.com/office/drawing/2014/main" id="{0AC0D8F6-7A14-7ECF-99C8-F49AE0CA8D48}"/>
              </a:ext>
            </a:extLst>
          </p:cNvPr>
          <p:cNvGraphicFramePr>
            <a:graphicFrameLocks noGrp="1"/>
          </p:cNvGraphicFramePr>
          <p:nvPr>
            <p:ph sz="half" idx="1"/>
            <p:extLst>
              <p:ext uri="{D42A27DB-BD31-4B8C-83A1-F6EECF244321}">
                <p14:modId xmlns:p14="http://schemas.microsoft.com/office/powerpoint/2010/main" val="4082174760"/>
              </p:ext>
            </p:extLst>
          </p:nvPr>
        </p:nvGraphicFramePr>
        <p:xfrm>
          <a:off x="115947" y="987971"/>
          <a:ext cx="5769846" cy="5683499"/>
        </p:xfrm>
        <a:graphic>
          <a:graphicData uri="http://schemas.openxmlformats.org/drawingml/2006/table">
            <a:tbl>
              <a:tblPr firstRow="1" bandRow="1">
                <a:tableStyleId>{5C22544A-7EE6-4342-B048-85BDC9FD1C3A}</a:tableStyleId>
              </a:tblPr>
              <a:tblGrid>
                <a:gridCol w="1439584">
                  <a:extLst>
                    <a:ext uri="{9D8B030D-6E8A-4147-A177-3AD203B41FA5}">
                      <a16:colId xmlns:a16="http://schemas.microsoft.com/office/drawing/2014/main" val="3735576473"/>
                    </a:ext>
                  </a:extLst>
                </a:gridCol>
                <a:gridCol w="2371946">
                  <a:extLst>
                    <a:ext uri="{9D8B030D-6E8A-4147-A177-3AD203B41FA5}">
                      <a16:colId xmlns:a16="http://schemas.microsoft.com/office/drawing/2014/main" val="2866647043"/>
                    </a:ext>
                  </a:extLst>
                </a:gridCol>
                <a:gridCol w="1958316">
                  <a:extLst>
                    <a:ext uri="{9D8B030D-6E8A-4147-A177-3AD203B41FA5}">
                      <a16:colId xmlns:a16="http://schemas.microsoft.com/office/drawing/2014/main" val="1914199068"/>
                    </a:ext>
                  </a:extLst>
                </a:gridCol>
              </a:tblGrid>
              <a:tr h="936073">
                <a:tc>
                  <a:txBody>
                    <a:bodyPr/>
                    <a:lstStyle/>
                    <a:p>
                      <a:r>
                        <a:rPr lang="en-US" dirty="0"/>
                        <a:t>Design Choice</a:t>
                      </a:r>
                    </a:p>
                  </a:txBody>
                  <a:tcPr/>
                </a:tc>
                <a:tc>
                  <a:txBody>
                    <a:bodyPr/>
                    <a:lstStyle/>
                    <a:p>
                      <a:r>
                        <a:rPr lang="en-US" dirty="0"/>
                        <a:t>Value/ Structure</a:t>
                      </a:r>
                    </a:p>
                  </a:txBody>
                  <a:tcPr/>
                </a:tc>
                <a:tc>
                  <a:txBody>
                    <a:bodyPr/>
                    <a:lstStyle/>
                    <a:p>
                      <a:r>
                        <a:rPr lang="en-US" dirty="0"/>
                        <a:t>Reason</a:t>
                      </a:r>
                    </a:p>
                  </a:txBody>
                  <a:tcPr/>
                </a:tc>
                <a:extLst>
                  <a:ext uri="{0D108BD9-81ED-4DB2-BD59-A6C34878D82A}">
                    <a16:rowId xmlns:a16="http://schemas.microsoft.com/office/drawing/2014/main" val="123744815"/>
                  </a:ext>
                </a:extLst>
              </a:tr>
              <a:tr h="878511">
                <a:tc>
                  <a:txBody>
                    <a:bodyPr/>
                    <a:lstStyle/>
                    <a:p>
                      <a:r>
                        <a:rPr lang="en-US" dirty="0"/>
                        <a:t>Algorithm</a:t>
                      </a:r>
                    </a:p>
                  </a:txBody>
                  <a:tcPr/>
                </a:tc>
                <a:tc>
                  <a:txBody>
                    <a:bodyPr/>
                    <a:lstStyle/>
                    <a:p>
                      <a:r>
                        <a:rPr lang="en-US" dirty="0"/>
                        <a:t>Tabular Q-Learning</a:t>
                      </a:r>
                    </a:p>
                  </a:txBody>
                  <a:tcPr/>
                </a:tc>
                <a:tc>
                  <a:txBody>
                    <a:bodyPr/>
                    <a:lstStyle/>
                    <a:p>
                      <a:r>
                        <a:rPr lang="en-US" dirty="0"/>
                        <a:t>Transparent – ease of use</a:t>
                      </a:r>
                    </a:p>
                  </a:txBody>
                  <a:tcPr/>
                </a:tc>
                <a:extLst>
                  <a:ext uri="{0D108BD9-81ED-4DB2-BD59-A6C34878D82A}">
                    <a16:rowId xmlns:a16="http://schemas.microsoft.com/office/drawing/2014/main" val="2019871279"/>
                  </a:ext>
                </a:extLst>
              </a:tr>
              <a:tr h="934135">
                <a:tc>
                  <a:txBody>
                    <a:bodyPr/>
                    <a:lstStyle/>
                    <a:p>
                      <a:r>
                        <a:rPr lang="en-US" dirty="0"/>
                        <a:t>State</a:t>
                      </a:r>
                    </a:p>
                  </a:txBody>
                  <a:tcPr/>
                </a:tc>
                <a:tc>
                  <a:txBody>
                    <a:bodyPr/>
                    <a:lstStyle/>
                    <a:p>
                      <a:r>
                        <a:rPr lang="en-US" dirty="0" err="1"/>
                        <a:t>Score_bin</a:t>
                      </a:r>
                      <a:r>
                        <a:rPr lang="en-US" dirty="0"/>
                        <a:t>, cards drawn, </a:t>
                      </a:r>
                      <a:r>
                        <a:rPr lang="en-US" dirty="0" err="1"/>
                        <a:t>Gap_bin</a:t>
                      </a:r>
                      <a:r>
                        <a:rPr lang="en-US" dirty="0"/>
                        <a:t>, 2</a:t>
                      </a:r>
                      <a:r>
                        <a:rPr lang="en-US" baseline="30000" dirty="0"/>
                        <a:t>nd</a:t>
                      </a:r>
                      <a:r>
                        <a:rPr lang="en-US" dirty="0"/>
                        <a:t> chance</a:t>
                      </a:r>
                    </a:p>
                  </a:txBody>
                  <a:tcPr/>
                </a:tc>
                <a:tc>
                  <a:txBody>
                    <a:bodyPr/>
                    <a:lstStyle/>
                    <a:p>
                      <a:r>
                        <a:rPr lang="en-US" dirty="0"/>
                        <a:t>Captures risk and position</a:t>
                      </a:r>
                    </a:p>
                  </a:txBody>
                  <a:tcPr/>
                </a:tc>
                <a:extLst>
                  <a:ext uri="{0D108BD9-81ED-4DB2-BD59-A6C34878D82A}">
                    <a16:rowId xmlns:a16="http://schemas.microsoft.com/office/drawing/2014/main" val="851920445"/>
                  </a:ext>
                </a:extLst>
              </a:tr>
              <a:tr h="653895">
                <a:tc>
                  <a:txBody>
                    <a:bodyPr/>
                    <a:lstStyle/>
                    <a:p>
                      <a:r>
                        <a:rPr lang="en-US" dirty="0"/>
                        <a:t>Actions</a:t>
                      </a:r>
                    </a:p>
                  </a:txBody>
                  <a:tcPr/>
                </a:tc>
                <a:tc>
                  <a:txBody>
                    <a:bodyPr/>
                    <a:lstStyle/>
                    <a:p>
                      <a:r>
                        <a:rPr lang="en-US" dirty="0"/>
                        <a:t>Draw, Stop</a:t>
                      </a:r>
                    </a:p>
                  </a:txBody>
                  <a:tcPr/>
                </a:tc>
                <a:tc>
                  <a:txBody>
                    <a:bodyPr/>
                    <a:lstStyle/>
                    <a:p>
                      <a:r>
                        <a:rPr lang="en-US" dirty="0"/>
                        <a:t>Stopping Decision</a:t>
                      </a:r>
                    </a:p>
                  </a:txBody>
                  <a:tcPr/>
                </a:tc>
                <a:extLst>
                  <a:ext uri="{0D108BD9-81ED-4DB2-BD59-A6C34878D82A}">
                    <a16:rowId xmlns:a16="http://schemas.microsoft.com/office/drawing/2014/main" val="1370459665"/>
                  </a:ext>
                </a:extLst>
              </a:tr>
              <a:tr h="542330">
                <a:tc>
                  <a:txBody>
                    <a:bodyPr/>
                    <a:lstStyle/>
                    <a:p>
                      <a:r>
                        <a:rPr lang="en-US" dirty="0"/>
                        <a:t>Training</a:t>
                      </a:r>
                    </a:p>
                  </a:txBody>
                  <a:tcPr/>
                </a:tc>
                <a:tc>
                  <a:txBody>
                    <a:bodyPr/>
                    <a:lstStyle/>
                    <a:p>
                      <a:r>
                        <a:rPr lang="en-US" dirty="0"/>
                        <a:t>10,000 Games</a:t>
                      </a:r>
                    </a:p>
                  </a:txBody>
                  <a:tcPr/>
                </a:tc>
                <a:tc>
                  <a:txBody>
                    <a:bodyPr/>
                    <a:lstStyle/>
                    <a:p>
                      <a:r>
                        <a:rPr lang="en-US" dirty="0"/>
                        <a:t>Training time</a:t>
                      </a:r>
                    </a:p>
                  </a:txBody>
                  <a:tcPr/>
                </a:tc>
                <a:extLst>
                  <a:ext uri="{0D108BD9-81ED-4DB2-BD59-A6C34878D82A}">
                    <a16:rowId xmlns:a16="http://schemas.microsoft.com/office/drawing/2014/main" val="4282280813"/>
                  </a:ext>
                </a:extLst>
              </a:tr>
              <a:tr h="653895">
                <a:tc>
                  <a:txBody>
                    <a:bodyPr/>
                    <a:lstStyle/>
                    <a:p>
                      <a:r>
                        <a:rPr lang="en-US" dirty="0"/>
                        <a:t>Learning Rate</a:t>
                      </a:r>
                    </a:p>
                  </a:txBody>
                  <a:tcPr/>
                </a:tc>
                <a:tc>
                  <a:txBody>
                    <a:bodyPr/>
                    <a:lstStyle/>
                    <a:p>
                      <a:pPr>
                        <a:buNone/>
                      </a:pPr>
                      <a:r>
                        <a:rPr lang="en-US" dirty="0"/>
                        <a:t>Alpha = 0.7</a:t>
                      </a:r>
                    </a:p>
                  </a:txBody>
                  <a:tcPr anchor="ctr"/>
                </a:tc>
                <a:tc>
                  <a:txBody>
                    <a:bodyPr/>
                    <a:lstStyle/>
                    <a:p>
                      <a:r>
                        <a:rPr lang="en-US" dirty="0"/>
                        <a:t>Faster Learning</a:t>
                      </a:r>
                    </a:p>
                  </a:txBody>
                  <a:tcPr/>
                </a:tc>
                <a:extLst>
                  <a:ext uri="{0D108BD9-81ED-4DB2-BD59-A6C34878D82A}">
                    <a16:rowId xmlns:a16="http://schemas.microsoft.com/office/drawing/2014/main" val="2043489020"/>
                  </a:ext>
                </a:extLst>
              </a:tr>
              <a:tr h="542330">
                <a:tc>
                  <a:txBody>
                    <a:bodyPr/>
                    <a:lstStyle/>
                    <a:p>
                      <a:r>
                        <a:rPr lang="en-US" dirty="0"/>
                        <a:t>Discount</a:t>
                      </a:r>
                    </a:p>
                  </a:txBody>
                  <a:tcPr/>
                </a:tc>
                <a:tc>
                  <a:txBody>
                    <a:bodyPr/>
                    <a:lstStyle/>
                    <a:p>
                      <a:r>
                        <a:rPr lang="en-US" dirty="0"/>
                        <a:t>y = 0.63</a:t>
                      </a:r>
                    </a:p>
                  </a:txBody>
                  <a:tcPr/>
                </a:tc>
                <a:tc>
                  <a:txBody>
                    <a:bodyPr/>
                    <a:lstStyle/>
                    <a:p>
                      <a:r>
                        <a:rPr lang="en-US" dirty="0"/>
                        <a:t>Future Rewards</a:t>
                      </a:r>
                    </a:p>
                  </a:txBody>
                  <a:tcPr/>
                </a:tc>
                <a:extLst>
                  <a:ext uri="{0D108BD9-81ED-4DB2-BD59-A6C34878D82A}">
                    <a16:rowId xmlns:a16="http://schemas.microsoft.com/office/drawing/2014/main" val="3387188927"/>
                  </a:ext>
                </a:extLst>
              </a:tr>
              <a:tr h="542330">
                <a:tc>
                  <a:txBody>
                    <a:bodyPr/>
                    <a:lstStyle/>
                    <a:p>
                      <a:r>
                        <a:rPr lang="en-US" dirty="0"/>
                        <a:t>Exploration</a:t>
                      </a:r>
                    </a:p>
                  </a:txBody>
                  <a:tcPr/>
                </a:tc>
                <a:tc>
                  <a:txBody>
                    <a:bodyPr/>
                    <a:lstStyle/>
                    <a:p>
                      <a:r>
                        <a:rPr lang="en-US" dirty="0"/>
                        <a:t>Decay to 0.05</a:t>
                      </a:r>
                    </a:p>
                  </a:txBody>
                  <a:tcPr/>
                </a:tc>
                <a:tc>
                  <a:txBody>
                    <a:bodyPr/>
                    <a:lstStyle/>
                    <a:p>
                      <a:r>
                        <a:rPr lang="en-US" dirty="0"/>
                        <a:t>Explore Early</a:t>
                      </a:r>
                    </a:p>
                  </a:txBody>
                  <a:tcPr/>
                </a:tc>
                <a:extLst>
                  <a:ext uri="{0D108BD9-81ED-4DB2-BD59-A6C34878D82A}">
                    <a16:rowId xmlns:a16="http://schemas.microsoft.com/office/drawing/2014/main" val="683213968"/>
                  </a:ext>
                </a:extLst>
              </a:tr>
            </a:tbl>
          </a:graphicData>
        </a:graphic>
      </p:graphicFrame>
      <p:sp>
        <p:nvSpPr>
          <p:cNvPr id="4" name="Content Placeholder 3">
            <a:extLst>
              <a:ext uri="{FF2B5EF4-FFF2-40B4-BE49-F238E27FC236}">
                <a16:creationId xmlns:a16="http://schemas.microsoft.com/office/drawing/2014/main" id="{CE057762-2F71-9BFE-9242-0F674645305A}"/>
              </a:ext>
            </a:extLst>
          </p:cNvPr>
          <p:cNvSpPr>
            <a:spLocks noGrp="1"/>
          </p:cNvSpPr>
          <p:nvPr>
            <p:ph sz="half" idx="2"/>
          </p:nvPr>
        </p:nvSpPr>
        <p:spPr>
          <a:xfrm>
            <a:off x="5964274" y="1587061"/>
            <a:ext cx="6028029" cy="4818221"/>
          </a:xfrm>
          <a:solidFill>
            <a:schemeClr val="bg1"/>
          </a:solidFill>
        </p:spPr>
        <p:txBody>
          <a:bodyPr/>
          <a:lstStyle/>
          <a:p>
            <a:pPr>
              <a:lnSpc>
                <a:spcPts val="1425"/>
              </a:lnSpc>
              <a:buNone/>
            </a:pPr>
            <a:r>
              <a:rPr lang="en-US" b="0" dirty="0">
                <a:solidFill>
                  <a:srgbClr val="6688CC"/>
                </a:solidFill>
                <a:effectLst/>
                <a:latin typeface="Consolas" panose="020B0609020204030204" pitchFamily="49" charset="0"/>
              </a:rPr>
              <a:t> </a:t>
            </a:r>
            <a:r>
              <a:rPr lang="en-US" b="0" dirty="0">
                <a:solidFill>
                  <a:srgbClr val="A22D44"/>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384887"/>
                </a:solidFill>
                <a:effectLst/>
                <a:latin typeface="Consolas" panose="020B0609020204030204" pitchFamily="49" charset="0"/>
              </a:rPr>
              <a:t># Hyperparameters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384887"/>
                </a:solidFill>
                <a:effectLst/>
                <a:latin typeface="Consolas" panose="020B0609020204030204" pitchFamily="49" charset="0"/>
              </a:rPr>
              <a:t># ----------------------------</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ALPHA</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0.7</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learning rate — aggressive updates from new experience</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GAMMA</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0.63</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discount factor — slightly future-leaning</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EPSILON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1.0</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exploration rate — starts fully exploratory</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EPSILON_DECAY</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0.9996</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decay per game — hits floor around game 8000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EPSILON_MIN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0.05</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floor — agent never stops exploring entirely</a:t>
            </a:r>
            <a:endParaRPr lang="en-US" b="0" dirty="0">
              <a:solidFill>
                <a:srgbClr val="6688CC"/>
              </a:solidFill>
              <a:effectLst/>
              <a:latin typeface="Consolas" panose="020B0609020204030204" pitchFamily="49" charset="0"/>
            </a:endParaRPr>
          </a:p>
          <a:p>
            <a:endParaRPr lang="en-US" dirty="0"/>
          </a:p>
        </p:txBody>
      </p:sp>
      <p:sp>
        <p:nvSpPr>
          <p:cNvPr id="5" name="Rectangle 4">
            <a:extLst>
              <a:ext uri="{FF2B5EF4-FFF2-40B4-BE49-F238E27FC236}">
                <a16:creationId xmlns:a16="http://schemas.microsoft.com/office/drawing/2014/main" id="{018CBEB2-F19E-7CF3-CF98-DFE8B3DF9647}"/>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7</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 name="TextBox 2">
            <a:extLst>
              <a:ext uri="{FF2B5EF4-FFF2-40B4-BE49-F238E27FC236}">
                <a16:creationId xmlns:a16="http://schemas.microsoft.com/office/drawing/2014/main" id="{296D8311-A0E0-3E21-E130-795D8EBC4352}"/>
              </a:ext>
            </a:extLst>
          </p:cNvPr>
          <p:cNvSpPr txBox="1"/>
          <p:nvPr/>
        </p:nvSpPr>
        <p:spPr>
          <a:xfrm>
            <a:off x="6096000" y="6489847"/>
            <a:ext cx="5974784" cy="276999"/>
          </a:xfrm>
          <a:prstGeom prst="rect">
            <a:avLst/>
          </a:prstGeom>
          <a:noFill/>
        </p:spPr>
        <p:txBody>
          <a:bodyPr wrap="square" rtlCol="0">
            <a:spAutoFit/>
          </a:bodyPr>
          <a:lstStyle/>
          <a:p>
            <a:r>
              <a:rPr lang="en-US" sz="1200" dirty="0"/>
              <a:t>(Watkins &amp; Dayan, Machine Learning, 1992) (Jang et al., IEEE Access, 2019)</a:t>
            </a:r>
          </a:p>
        </p:txBody>
      </p:sp>
    </p:spTree>
    <p:extLst>
      <p:ext uri="{BB962C8B-B14F-4D97-AF65-F5344CB8AC3E}">
        <p14:creationId xmlns:p14="http://schemas.microsoft.com/office/powerpoint/2010/main" val="3577401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B5936-E0FE-CAC3-E4A5-101651200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28D61-A11C-D11F-E2AD-7F869EE8F538}"/>
              </a:ext>
            </a:extLst>
          </p:cNvPr>
          <p:cNvSpPr>
            <a:spLocks noGrp="1"/>
          </p:cNvSpPr>
          <p:nvPr>
            <p:ph type="title"/>
          </p:nvPr>
        </p:nvSpPr>
        <p:spPr>
          <a:xfrm>
            <a:off x="498966" y="186531"/>
            <a:ext cx="9404723" cy="801441"/>
          </a:xfrm>
        </p:spPr>
        <p:txBody>
          <a:bodyPr/>
          <a:lstStyle/>
          <a:p>
            <a:r>
              <a:rPr lang="en-US" dirty="0"/>
              <a:t>Q-Learning Agent Design</a:t>
            </a:r>
          </a:p>
        </p:txBody>
      </p:sp>
      <p:graphicFrame>
        <p:nvGraphicFramePr>
          <p:cNvPr id="6" name="Content Placeholder 5">
            <a:extLst>
              <a:ext uri="{FF2B5EF4-FFF2-40B4-BE49-F238E27FC236}">
                <a16:creationId xmlns:a16="http://schemas.microsoft.com/office/drawing/2014/main" id="{BC57A050-F6DD-4FB4-4033-F878100EAB3B}"/>
              </a:ext>
            </a:extLst>
          </p:cNvPr>
          <p:cNvGraphicFramePr>
            <a:graphicFrameLocks noGrp="1"/>
          </p:cNvGraphicFramePr>
          <p:nvPr>
            <p:ph sz="half" idx="1"/>
          </p:nvPr>
        </p:nvGraphicFramePr>
        <p:xfrm>
          <a:off x="115947" y="987971"/>
          <a:ext cx="5769846" cy="5683499"/>
        </p:xfrm>
        <a:graphic>
          <a:graphicData uri="http://schemas.openxmlformats.org/drawingml/2006/table">
            <a:tbl>
              <a:tblPr firstRow="1" bandRow="1">
                <a:tableStyleId>{5C22544A-7EE6-4342-B048-85BDC9FD1C3A}</a:tableStyleId>
              </a:tblPr>
              <a:tblGrid>
                <a:gridCol w="1439584">
                  <a:extLst>
                    <a:ext uri="{9D8B030D-6E8A-4147-A177-3AD203B41FA5}">
                      <a16:colId xmlns:a16="http://schemas.microsoft.com/office/drawing/2014/main" val="3735576473"/>
                    </a:ext>
                  </a:extLst>
                </a:gridCol>
                <a:gridCol w="2371946">
                  <a:extLst>
                    <a:ext uri="{9D8B030D-6E8A-4147-A177-3AD203B41FA5}">
                      <a16:colId xmlns:a16="http://schemas.microsoft.com/office/drawing/2014/main" val="2866647043"/>
                    </a:ext>
                  </a:extLst>
                </a:gridCol>
                <a:gridCol w="1958316">
                  <a:extLst>
                    <a:ext uri="{9D8B030D-6E8A-4147-A177-3AD203B41FA5}">
                      <a16:colId xmlns:a16="http://schemas.microsoft.com/office/drawing/2014/main" val="1914199068"/>
                    </a:ext>
                  </a:extLst>
                </a:gridCol>
              </a:tblGrid>
              <a:tr h="936073">
                <a:tc>
                  <a:txBody>
                    <a:bodyPr/>
                    <a:lstStyle/>
                    <a:p>
                      <a:r>
                        <a:rPr lang="en-US" dirty="0"/>
                        <a:t>Design Choice</a:t>
                      </a:r>
                    </a:p>
                  </a:txBody>
                  <a:tcPr/>
                </a:tc>
                <a:tc>
                  <a:txBody>
                    <a:bodyPr/>
                    <a:lstStyle/>
                    <a:p>
                      <a:r>
                        <a:rPr lang="en-US" dirty="0"/>
                        <a:t>Value/ Structure</a:t>
                      </a:r>
                    </a:p>
                  </a:txBody>
                  <a:tcPr/>
                </a:tc>
                <a:tc>
                  <a:txBody>
                    <a:bodyPr/>
                    <a:lstStyle/>
                    <a:p>
                      <a:r>
                        <a:rPr lang="en-US" dirty="0"/>
                        <a:t>Reason</a:t>
                      </a:r>
                    </a:p>
                  </a:txBody>
                  <a:tcPr/>
                </a:tc>
                <a:extLst>
                  <a:ext uri="{0D108BD9-81ED-4DB2-BD59-A6C34878D82A}">
                    <a16:rowId xmlns:a16="http://schemas.microsoft.com/office/drawing/2014/main" val="123744815"/>
                  </a:ext>
                </a:extLst>
              </a:tr>
              <a:tr h="878511">
                <a:tc>
                  <a:txBody>
                    <a:bodyPr/>
                    <a:lstStyle/>
                    <a:p>
                      <a:r>
                        <a:rPr lang="en-US" dirty="0"/>
                        <a:t>Algorithm</a:t>
                      </a:r>
                    </a:p>
                  </a:txBody>
                  <a:tcPr/>
                </a:tc>
                <a:tc>
                  <a:txBody>
                    <a:bodyPr/>
                    <a:lstStyle/>
                    <a:p>
                      <a:r>
                        <a:rPr lang="en-US" dirty="0"/>
                        <a:t>Tabular Q-Learning</a:t>
                      </a:r>
                    </a:p>
                  </a:txBody>
                  <a:tcPr/>
                </a:tc>
                <a:tc>
                  <a:txBody>
                    <a:bodyPr/>
                    <a:lstStyle/>
                    <a:p>
                      <a:r>
                        <a:rPr lang="en-US" dirty="0"/>
                        <a:t>Transparent – ease of use</a:t>
                      </a:r>
                    </a:p>
                  </a:txBody>
                  <a:tcPr/>
                </a:tc>
                <a:extLst>
                  <a:ext uri="{0D108BD9-81ED-4DB2-BD59-A6C34878D82A}">
                    <a16:rowId xmlns:a16="http://schemas.microsoft.com/office/drawing/2014/main" val="2019871279"/>
                  </a:ext>
                </a:extLst>
              </a:tr>
              <a:tr h="934135">
                <a:tc>
                  <a:txBody>
                    <a:bodyPr/>
                    <a:lstStyle/>
                    <a:p>
                      <a:r>
                        <a:rPr lang="en-US" dirty="0"/>
                        <a:t>State</a:t>
                      </a:r>
                    </a:p>
                  </a:txBody>
                  <a:tcPr/>
                </a:tc>
                <a:tc>
                  <a:txBody>
                    <a:bodyPr/>
                    <a:lstStyle/>
                    <a:p>
                      <a:r>
                        <a:rPr lang="en-US" dirty="0" err="1"/>
                        <a:t>Score_bin</a:t>
                      </a:r>
                      <a:r>
                        <a:rPr lang="en-US" dirty="0"/>
                        <a:t>, cards drawn, </a:t>
                      </a:r>
                      <a:r>
                        <a:rPr lang="en-US" dirty="0" err="1"/>
                        <a:t>Gap_bin</a:t>
                      </a:r>
                      <a:r>
                        <a:rPr lang="en-US" dirty="0"/>
                        <a:t>, 2</a:t>
                      </a:r>
                      <a:r>
                        <a:rPr lang="en-US" baseline="30000" dirty="0"/>
                        <a:t>nd</a:t>
                      </a:r>
                      <a:r>
                        <a:rPr lang="en-US" dirty="0"/>
                        <a:t> chance</a:t>
                      </a:r>
                    </a:p>
                  </a:txBody>
                  <a:tcPr/>
                </a:tc>
                <a:tc>
                  <a:txBody>
                    <a:bodyPr/>
                    <a:lstStyle/>
                    <a:p>
                      <a:r>
                        <a:rPr lang="en-US" dirty="0"/>
                        <a:t>Captures risk and position</a:t>
                      </a:r>
                    </a:p>
                  </a:txBody>
                  <a:tcPr/>
                </a:tc>
                <a:extLst>
                  <a:ext uri="{0D108BD9-81ED-4DB2-BD59-A6C34878D82A}">
                    <a16:rowId xmlns:a16="http://schemas.microsoft.com/office/drawing/2014/main" val="851920445"/>
                  </a:ext>
                </a:extLst>
              </a:tr>
              <a:tr h="653895">
                <a:tc>
                  <a:txBody>
                    <a:bodyPr/>
                    <a:lstStyle/>
                    <a:p>
                      <a:r>
                        <a:rPr lang="en-US" dirty="0"/>
                        <a:t>Actions</a:t>
                      </a:r>
                    </a:p>
                  </a:txBody>
                  <a:tcPr/>
                </a:tc>
                <a:tc>
                  <a:txBody>
                    <a:bodyPr/>
                    <a:lstStyle/>
                    <a:p>
                      <a:r>
                        <a:rPr lang="en-US" dirty="0"/>
                        <a:t>Draw, Stop</a:t>
                      </a:r>
                    </a:p>
                  </a:txBody>
                  <a:tcPr/>
                </a:tc>
                <a:tc>
                  <a:txBody>
                    <a:bodyPr/>
                    <a:lstStyle/>
                    <a:p>
                      <a:r>
                        <a:rPr lang="en-US" dirty="0"/>
                        <a:t>Stopping Decision</a:t>
                      </a:r>
                    </a:p>
                  </a:txBody>
                  <a:tcPr/>
                </a:tc>
                <a:extLst>
                  <a:ext uri="{0D108BD9-81ED-4DB2-BD59-A6C34878D82A}">
                    <a16:rowId xmlns:a16="http://schemas.microsoft.com/office/drawing/2014/main" val="1370459665"/>
                  </a:ext>
                </a:extLst>
              </a:tr>
              <a:tr h="542330">
                <a:tc>
                  <a:txBody>
                    <a:bodyPr/>
                    <a:lstStyle/>
                    <a:p>
                      <a:r>
                        <a:rPr lang="en-US" dirty="0"/>
                        <a:t>Training</a:t>
                      </a:r>
                    </a:p>
                  </a:txBody>
                  <a:tcPr/>
                </a:tc>
                <a:tc>
                  <a:txBody>
                    <a:bodyPr/>
                    <a:lstStyle/>
                    <a:p>
                      <a:r>
                        <a:rPr lang="en-US" dirty="0"/>
                        <a:t>10,000 Games</a:t>
                      </a:r>
                    </a:p>
                  </a:txBody>
                  <a:tcPr/>
                </a:tc>
                <a:tc>
                  <a:txBody>
                    <a:bodyPr/>
                    <a:lstStyle/>
                    <a:p>
                      <a:r>
                        <a:rPr lang="en-US" dirty="0"/>
                        <a:t>Training time</a:t>
                      </a:r>
                    </a:p>
                  </a:txBody>
                  <a:tcPr/>
                </a:tc>
                <a:extLst>
                  <a:ext uri="{0D108BD9-81ED-4DB2-BD59-A6C34878D82A}">
                    <a16:rowId xmlns:a16="http://schemas.microsoft.com/office/drawing/2014/main" val="4282280813"/>
                  </a:ext>
                </a:extLst>
              </a:tr>
              <a:tr h="653895">
                <a:tc>
                  <a:txBody>
                    <a:bodyPr/>
                    <a:lstStyle/>
                    <a:p>
                      <a:r>
                        <a:rPr lang="en-US" dirty="0"/>
                        <a:t>Learning Rate</a:t>
                      </a:r>
                    </a:p>
                  </a:txBody>
                  <a:tcPr/>
                </a:tc>
                <a:tc>
                  <a:txBody>
                    <a:bodyPr/>
                    <a:lstStyle/>
                    <a:p>
                      <a:pPr>
                        <a:buNone/>
                      </a:pPr>
                      <a:r>
                        <a:rPr lang="en-US" dirty="0"/>
                        <a:t>Alpha = 0.7</a:t>
                      </a:r>
                    </a:p>
                  </a:txBody>
                  <a:tcPr anchor="ctr"/>
                </a:tc>
                <a:tc>
                  <a:txBody>
                    <a:bodyPr/>
                    <a:lstStyle/>
                    <a:p>
                      <a:r>
                        <a:rPr lang="en-US" dirty="0"/>
                        <a:t>Faster Learning</a:t>
                      </a:r>
                    </a:p>
                  </a:txBody>
                  <a:tcPr/>
                </a:tc>
                <a:extLst>
                  <a:ext uri="{0D108BD9-81ED-4DB2-BD59-A6C34878D82A}">
                    <a16:rowId xmlns:a16="http://schemas.microsoft.com/office/drawing/2014/main" val="2043489020"/>
                  </a:ext>
                </a:extLst>
              </a:tr>
              <a:tr h="542330">
                <a:tc>
                  <a:txBody>
                    <a:bodyPr/>
                    <a:lstStyle/>
                    <a:p>
                      <a:r>
                        <a:rPr lang="en-US" dirty="0"/>
                        <a:t>Discount</a:t>
                      </a:r>
                    </a:p>
                  </a:txBody>
                  <a:tcPr/>
                </a:tc>
                <a:tc>
                  <a:txBody>
                    <a:bodyPr/>
                    <a:lstStyle/>
                    <a:p>
                      <a:r>
                        <a:rPr lang="en-US" dirty="0"/>
                        <a:t>y = 0.63</a:t>
                      </a:r>
                    </a:p>
                  </a:txBody>
                  <a:tcPr/>
                </a:tc>
                <a:tc>
                  <a:txBody>
                    <a:bodyPr/>
                    <a:lstStyle/>
                    <a:p>
                      <a:r>
                        <a:rPr lang="en-US" dirty="0"/>
                        <a:t>Future Rewards</a:t>
                      </a:r>
                    </a:p>
                  </a:txBody>
                  <a:tcPr/>
                </a:tc>
                <a:extLst>
                  <a:ext uri="{0D108BD9-81ED-4DB2-BD59-A6C34878D82A}">
                    <a16:rowId xmlns:a16="http://schemas.microsoft.com/office/drawing/2014/main" val="3387188927"/>
                  </a:ext>
                </a:extLst>
              </a:tr>
              <a:tr h="542330">
                <a:tc>
                  <a:txBody>
                    <a:bodyPr/>
                    <a:lstStyle/>
                    <a:p>
                      <a:r>
                        <a:rPr lang="en-US" dirty="0"/>
                        <a:t>Exploration</a:t>
                      </a:r>
                    </a:p>
                  </a:txBody>
                  <a:tcPr/>
                </a:tc>
                <a:tc>
                  <a:txBody>
                    <a:bodyPr/>
                    <a:lstStyle/>
                    <a:p>
                      <a:r>
                        <a:rPr lang="en-US" dirty="0"/>
                        <a:t>Decay to 0.05</a:t>
                      </a:r>
                    </a:p>
                  </a:txBody>
                  <a:tcPr/>
                </a:tc>
                <a:tc>
                  <a:txBody>
                    <a:bodyPr/>
                    <a:lstStyle/>
                    <a:p>
                      <a:r>
                        <a:rPr lang="en-US" dirty="0"/>
                        <a:t>Explore Early</a:t>
                      </a:r>
                    </a:p>
                  </a:txBody>
                  <a:tcPr/>
                </a:tc>
                <a:extLst>
                  <a:ext uri="{0D108BD9-81ED-4DB2-BD59-A6C34878D82A}">
                    <a16:rowId xmlns:a16="http://schemas.microsoft.com/office/drawing/2014/main" val="683213968"/>
                  </a:ext>
                </a:extLst>
              </a:tr>
            </a:tbl>
          </a:graphicData>
        </a:graphic>
      </p:graphicFrame>
      <p:sp>
        <p:nvSpPr>
          <p:cNvPr id="5" name="Rectangle 4">
            <a:extLst>
              <a:ext uri="{FF2B5EF4-FFF2-40B4-BE49-F238E27FC236}">
                <a16:creationId xmlns:a16="http://schemas.microsoft.com/office/drawing/2014/main" id="{81BA803B-3776-B0B6-DA8B-21CE01F0B573}"/>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7</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9" name="Content Placeholder 8">
            <a:extLst>
              <a:ext uri="{FF2B5EF4-FFF2-40B4-BE49-F238E27FC236}">
                <a16:creationId xmlns:a16="http://schemas.microsoft.com/office/drawing/2014/main" id="{580E0053-9177-D3F4-82ED-9F2673B563C9}"/>
              </a:ext>
            </a:extLst>
          </p:cNvPr>
          <p:cNvPicPr>
            <a:picLocks noGrp="1" noChangeAspect="1"/>
          </p:cNvPicPr>
          <p:nvPr>
            <p:ph sz="half" idx="2"/>
          </p:nvPr>
        </p:nvPicPr>
        <p:blipFill>
          <a:blip r:embed="rId3"/>
          <a:stretch>
            <a:fillRect/>
          </a:stretch>
        </p:blipFill>
        <p:spPr>
          <a:xfrm>
            <a:off x="6306209" y="1304741"/>
            <a:ext cx="4899039" cy="5366728"/>
          </a:xfrm>
          <a:prstGeom prst="rect">
            <a:avLst/>
          </a:prstGeom>
        </p:spPr>
      </p:pic>
      <p:sp>
        <p:nvSpPr>
          <p:cNvPr id="12" name="TextBox 11">
            <a:extLst>
              <a:ext uri="{FF2B5EF4-FFF2-40B4-BE49-F238E27FC236}">
                <a16:creationId xmlns:a16="http://schemas.microsoft.com/office/drawing/2014/main" id="{801DF9A7-75A1-678B-9D20-B02D57DA8AE7}"/>
              </a:ext>
            </a:extLst>
          </p:cNvPr>
          <p:cNvSpPr txBox="1"/>
          <p:nvPr/>
        </p:nvSpPr>
        <p:spPr>
          <a:xfrm>
            <a:off x="6101269" y="6581001"/>
            <a:ext cx="5974784" cy="276999"/>
          </a:xfrm>
          <a:prstGeom prst="rect">
            <a:avLst/>
          </a:prstGeom>
          <a:noFill/>
        </p:spPr>
        <p:txBody>
          <a:bodyPr wrap="square" rtlCol="0">
            <a:spAutoFit/>
          </a:bodyPr>
          <a:lstStyle/>
          <a:p>
            <a:r>
              <a:rPr lang="en-US" sz="1200" dirty="0"/>
              <a:t>(Watkins &amp; Dayan, Machine Learning, 1992) (Jang et al., IEEE Access, 2019)</a:t>
            </a:r>
          </a:p>
        </p:txBody>
      </p:sp>
    </p:spTree>
    <p:extLst>
      <p:ext uri="{BB962C8B-B14F-4D97-AF65-F5344CB8AC3E}">
        <p14:creationId xmlns:p14="http://schemas.microsoft.com/office/powerpoint/2010/main" val="287278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77D7-82AD-88A7-A38E-DC91E765D9F6}"/>
              </a:ext>
            </a:extLst>
          </p:cNvPr>
          <p:cNvSpPr>
            <a:spLocks noGrp="1"/>
          </p:cNvSpPr>
          <p:nvPr>
            <p:ph type="title"/>
          </p:nvPr>
        </p:nvSpPr>
        <p:spPr>
          <a:xfrm>
            <a:off x="498966" y="186531"/>
            <a:ext cx="9404723" cy="801441"/>
          </a:xfrm>
        </p:spPr>
        <p:txBody>
          <a:bodyPr/>
          <a:lstStyle/>
          <a:p>
            <a:r>
              <a:rPr lang="en-US" dirty="0"/>
              <a:t>Q-Learning Agent Design</a:t>
            </a:r>
          </a:p>
        </p:txBody>
      </p:sp>
      <p:graphicFrame>
        <p:nvGraphicFramePr>
          <p:cNvPr id="6" name="Content Placeholder 5">
            <a:extLst>
              <a:ext uri="{FF2B5EF4-FFF2-40B4-BE49-F238E27FC236}">
                <a16:creationId xmlns:a16="http://schemas.microsoft.com/office/drawing/2014/main" id="{DF6151FA-E107-F0D5-1D9F-9EC60845656B}"/>
              </a:ext>
            </a:extLst>
          </p:cNvPr>
          <p:cNvGraphicFramePr>
            <a:graphicFrameLocks noGrp="1"/>
          </p:cNvGraphicFramePr>
          <p:nvPr>
            <p:ph sz="half" idx="1"/>
            <p:extLst>
              <p:ext uri="{D42A27DB-BD31-4B8C-83A1-F6EECF244321}">
                <p14:modId xmlns:p14="http://schemas.microsoft.com/office/powerpoint/2010/main" val="3819152881"/>
              </p:ext>
            </p:extLst>
          </p:nvPr>
        </p:nvGraphicFramePr>
        <p:xfrm>
          <a:off x="115947" y="987971"/>
          <a:ext cx="5769846" cy="5683499"/>
        </p:xfrm>
        <a:graphic>
          <a:graphicData uri="http://schemas.openxmlformats.org/drawingml/2006/table">
            <a:tbl>
              <a:tblPr firstRow="1" bandRow="1">
                <a:tableStyleId>{5C22544A-7EE6-4342-B048-85BDC9FD1C3A}</a:tableStyleId>
              </a:tblPr>
              <a:tblGrid>
                <a:gridCol w="1439584">
                  <a:extLst>
                    <a:ext uri="{9D8B030D-6E8A-4147-A177-3AD203B41FA5}">
                      <a16:colId xmlns:a16="http://schemas.microsoft.com/office/drawing/2014/main" val="3735576473"/>
                    </a:ext>
                  </a:extLst>
                </a:gridCol>
                <a:gridCol w="2371946">
                  <a:extLst>
                    <a:ext uri="{9D8B030D-6E8A-4147-A177-3AD203B41FA5}">
                      <a16:colId xmlns:a16="http://schemas.microsoft.com/office/drawing/2014/main" val="2866647043"/>
                    </a:ext>
                  </a:extLst>
                </a:gridCol>
                <a:gridCol w="1958316">
                  <a:extLst>
                    <a:ext uri="{9D8B030D-6E8A-4147-A177-3AD203B41FA5}">
                      <a16:colId xmlns:a16="http://schemas.microsoft.com/office/drawing/2014/main" val="1914199068"/>
                    </a:ext>
                  </a:extLst>
                </a:gridCol>
              </a:tblGrid>
              <a:tr h="936073">
                <a:tc>
                  <a:txBody>
                    <a:bodyPr/>
                    <a:lstStyle/>
                    <a:p>
                      <a:r>
                        <a:rPr lang="en-US" dirty="0"/>
                        <a:t>Design Choice</a:t>
                      </a:r>
                    </a:p>
                  </a:txBody>
                  <a:tcPr/>
                </a:tc>
                <a:tc>
                  <a:txBody>
                    <a:bodyPr/>
                    <a:lstStyle/>
                    <a:p>
                      <a:r>
                        <a:rPr lang="en-US" dirty="0"/>
                        <a:t>Value/ Structure</a:t>
                      </a:r>
                    </a:p>
                  </a:txBody>
                  <a:tcPr/>
                </a:tc>
                <a:tc>
                  <a:txBody>
                    <a:bodyPr/>
                    <a:lstStyle/>
                    <a:p>
                      <a:r>
                        <a:rPr lang="en-US" dirty="0"/>
                        <a:t>Reason</a:t>
                      </a:r>
                    </a:p>
                  </a:txBody>
                  <a:tcPr/>
                </a:tc>
                <a:extLst>
                  <a:ext uri="{0D108BD9-81ED-4DB2-BD59-A6C34878D82A}">
                    <a16:rowId xmlns:a16="http://schemas.microsoft.com/office/drawing/2014/main" val="123744815"/>
                  </a:ext>
                </a:extLst>
              </a:tr>
              <a:tr h="878511">
                <a:tc>
                  <a:txBody>
                    <a:bodyPr/>
                    <a:lstStyle/>
                    <a:p>
                      <a:r>
                        <a:rPr lang="en-US" dirty="0"/>
                        <a:t>Algorithm</a:t>
                      </a:r>
                    </a:p>
                  </a:txBody>
                  <a:tcPr/>
                </a:tc>
                <a:tc>
                  <a:txBody>
                    <a:bodyPr/>
                    <a:lstStyle/>
                    <a:p>
                      <a:r>
                        <a:rPr lang="en-US" dirty="0"/>
                        <a:t>Tabular Q-Learning</a:t>
                      </a:r>
                    </a:p>
                  </a:txBody>
                  <a:tcPr/>
                </a:tc>
                <a:tc>
                  <a:txBody>
                    <a:bodyPr/>
                    <a:lstStyle/>
                    <a:p>
                      <a:r>
                        <a:rPr lang="en-US" dirty="0"/>
                        <a:t>Transparent – ease of use</a:t>
                      </a:r>
                    </a:p>
                  </a:txBody>
                  <a:tcPr/>
                </a:tc>
                <a:extLst>
                  <a:ext uri="{0D108BD9-81ED-4DB2-BD59-A6C34878D82A}">
                    <a16:rowId xmlns:a16="http://schemas.microsoft.com/office/drawing/2014/main" val="2019871279"/>
                  </a:ext>
                </a:extLst>
              </a:tr>
              <a:tr h="934135">
                <a:tc>
                  <a:txBody>
                    <a:bodyPr/>
                    <a:lstStyle/>
                    <a:p>
                      <a:r>
                        <a:rPr lang="en-US" dirty="0"/>
                        <a:t>State</a:t>
                      </a:r>
                    </a:p>
                  </a:txBody>
                  <a:tcPr/>
                </a:tc>
                <a:tc>
                  <a:txBody>
                    <a:bodyPr/>
                    <a:lstStyle/>
                    <a:p>
                      <a:r>
                        <a:rPr lang="en-US" dirty="0" err="1"/>
                        <a:t>Score_bin</a:t>
                      </a:r>
                      <a:r>
                        <a:rPr lang="en-US" dirty="0"/>
                        <a:t>, cards drawn, </a:t>
                      </a:r>
                      <a:r>
                        <a:rPr lang="en-US" dirty="0" err="1"/>
                        <a:t>Gap_bin</a:t>
                      </a:r>
                      <a:r>
                        <a:rPr lang="en-US" dirty="0"/>
                        <a:t>, 2</a:t>
                      </a:r>
                      <a:r>
                        <a:rPr lang="en-US" baseline="30000" dirty="0"/>
                        <a:t>nd</a:t>
                      </a:r>
                      <a:r>
                        <a:rPr lang="en-US" dirty="0"/>
                        <a:t> chance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Captures risk and position</a:t>
                      </a:r>
                    </a:p>
                    <a:p>
                      <a:endParaRPr lang="en-US" dirty="0"/>
                    </a:p>
                  </a:txBody>
                  <a:tcPr/>
                </a:tc>
                <a:extLst>
                  <a:ext uri="{0D108BD9-81ED-4DB2-BD59-A6C34878D82A}">
                    <a16:rowId xmlns:a16="http://schemas.microsoft.com/office/drawing/2014/main" val="851920445"/>
                  </a:ext>
                </a:extLst>
              </a:tr>
              <a:tr h="653895">
                <a:tc>
                  <a:txBody>
                    <a:bodyPr/>
                    <a:lstStyle/>
                    <a:p>
                      <a:r>
                        <a:rPr lang="en-US" dirty="0"/>
                        <a:t>Actions</a:t>
                      </a:r>
                    </a:p>
                  </a:txBody>
                  <a:tcPr/>
                </a:tc>
                <a:tc>
                  <a:txBody>
                    <a:bodyPr/>
                    <a:lstStyle/>
                    <a:p>
                      <a:r>
                        <a:rPr lang="en-US" dirty="0"/>
                        <a:t>Draw, Stop</a:t>
                      </a:r>
                    </a:p>
                  </a:txBody>
                  <a:tcPr/>
                </a:tc>
                <a:tc>
                  <a:txBody>
                    <a:bodyPr/>
                    <a:lstStyle/>
                    <a:p>
                      <a:r>
                        <a:rPr lang="en-US" dirty="0"/>
                        <a:t>Stopping Decision</a:t>
                      </a:r>
                    </a:p>
                  </a:txBody>
                  <a:tcPr/>
                </a:tc>
                <a:extLst>
                  <a:ext uri="{0D108BD9-81ED-4DB2-BD59-A6C34878D82A}">
                    <a16:rowId xmlns:a16="http://schemas.microsoft.com/office/drawing/2014/main" val="1370459665"/>
                  </a:ext>
                </a:extLst>
              </a:tr>
              <a:tr h="542330">
                <a:tc>
                  <a:txBody>
                    <a:bodyPr/>
                    <a:lstStyle/>
                    <a:p>
                      <a:r>
                        <a:rPr lang="en-US" dirty="0"/>
                        <a:t>Training</a:t>
                      </a:r>
                    </a:p>
                  </a:txBody>
                  <a:tcPr/>
                </a:tc>
                <a:tc>
                  <a:txBody>
                    <a:bodyPr/>
                    <a:lstStyle/>
                    <a:p>
                      <a:r>
                        <a:rPr lang="en-US" dirty="0"/>
                        <a:t>10,000 Games</a:t>
                      </a:r>
                    </a:p>
                  </a:txBody>
                  <a:tcPr/>
                </a:tc>
                <a:tc>
                  <a:txBody>
                    <a:bodyPr/>
                    <a:lstStyle/>
                    <a:p>
                      <a:r>
                        <a:rPr lang="en-US" dirty="0"/>
                        <a:t>Training time</a:t>
                      </a:r>
                    </a:p>
                  </a:txBody>
                  <a:tcPr/>
                </a:tc>
                <a:extLst>
                  <a:ext uri="{0D108BD9-81ED-4DB2-BD59-A6C34878D82A}">
                    <a16:rowId xmlns:a16="http://schemas.microsoft.com/office/drawing/2014/main" val="4282280813"/>
                  </a:ext>
                </a:extLst>
              </a:tr>
              <a:tr h="653895">
                <a:tc>
                  <a:txBody>
                    <a:bodyPr/>
                    <a:lstStyle/>
                    <a:p>
                      <a:r>
                        <a:rPr lang="en-US" dirty="0"/>
                        <a:t>Learning Rate</a:t>
                      </a:r>
                    </a:p>
                  </a:txBody>
                  <a:tcPr/>
                </a:tc>
                <a:tc>
                  <a:txBody>
                    <a:bodyPr/>
                    <a:lstStyle/>
                    <a:p>
                      <a:pPr>
                        <a:buNone/>
                      </a:pPr>
                      <a:r>
                        <a:rPr lang="en-US" dirty="0"/>
                        <a:t>Alpha = 0.7</a:t>
                      </a:r>
                    </a:p>
                  </a:txBody>
                  <a:tcPr anchor="ctr"/>
                </a:tc>
                <a:tc>
                  <a:txBody>
                    <a:bodyPr/>
                    <a:lstStyle/>
                    <a:p>
                      <a:r>
                        <a:rPr lang="en-US" dirty="0"/>
                        <a:t>Faster Learning</a:t>
                      </a:r>
                    </a:p>
                  </a:txBody>
                  <a:tcPr/>
                </a:tc>
                <a:extLst>
                  <a:ext uri="{0D108BD9-81ED-4DB2-BD59-A6C34878D82A}">
                    <a16:rowId xmlns:a16="http://schemas.microsoft.com/office/drawing/2014/main" val="2043489020"/>
                  </a:ext>
                </a:extLst>
              </a:tr>
              <a:tr h="542330">
                <a:tc>
                  <a:txBody>
                    <a:bodyPr/>
                    <a:lstStyle/>
                    <a:p>
                      <a:r>
                        <a:rPr lang="en-US" dirty="0"/>
                        <a:t>Discount</a:t>
                      </a:r>
                    </a:p>
                  </a:txBody>
                  <a:tcPr/>
                </a:tc>
                <a:tc>
                  <a:txBody>
                    <a:bodyPr/>
                    <a:lstStyle/>
                    <a:p>
                      <a:r>
                        <a:rPr lang="en-US" dirty="0"/>
                        <a:t>y = 0.63</a:t>
                      </a:r>
                    </a:p>
                  </a:txBody>
                  <a:tcPr/>
                </a:tc>
                <a:tc>
                  <a:txBody>
                    <a:bodyPr/>
                    <a:lstStyle/>
                    <a:p>
                      <a:r>
                        <a:rPr lang="en-US" dirty="0"/>
                        <a:t>Future Rewards</a:t>
                      </a:r>
                    </a:p>
                  </a:txBody>
                  <a:tcPr/>
                </a:tc>
                <a:extLst>
                  <a:ext uri="{0D108BD9-81ED-4DB2-BD59-A6C34878D82A}">
                    <a16:rowId xmlns:a16="http://schemas.microsoft.com/office/drawing/2014/main" val="3387188927"/>
                  </a:ext>
                </a:extLst>
              </a:tr>
              <a:tr h="542330">
                <a:tc>
                  <a:txBody>
                    <a:bodyPr/>
                    <a:lstStyle/>
                    <a:p>
                      <a:r>
                        <a:rPr lang="en-US" dirty="0"/>
                        <a:t>Exploration</a:t>
                      </a:r>
                    </a:p>
                  </a:txBody>
                  <a:tcPr/>
                </a:tc>
                <a:tc>
                  <a:txBody>
                    <a:bodyPr/>
                    <a:lstStyle/>
                    <a:p>
                      <a:r>
                        <a:rPr lang="en-US" dirty="0"/>
                        <a:t>Decay to 0.05</a:t>
                      </a:r>
                    </a:p>
                  </a:txBody>
                  <a:tcPr/>
                </a:tc>
                <a:tc>
                  <a:txBody>
                    <a:bodyPr/>
                    <a:lstStyle/>
                    <a:p>
                      <a:r>
                        <a:rPr lang="en-US" dirty="0"/>
                        <a:t>Explore Early</a:t>
                      </a:r>
                    </a:p>
                  </a:txBody>
                  <a:tcPr/>
                </a:tc>
                <a:extLst>
                  <a:ext uri="{0D108BD9-81ED-4DB2-BD59-A6C34878D82A}">
                    <a16:rowId xmlns:a16="http://schemas.microsoft.com/office/drawing/2014/main" val="683213968"/>
                  </a:ext>
                </a:extLst>
              </a:tr>
            </a:tbl>
          </a:graphicData>
        </a:graphic>
      </p:graphicFrame>
      <p:sp>
        <p:nvSpPr>
          <p:cNvPr id="4" name="Content Placeholder 3">
            <a:extLst>
              <a:ext uri="{FF2B5EF4-FFF2-40B4-BE49-F238E27FC236}">
                <a16:creationId xmlns:a16="http://schemas.microsoft.com/office/drawing/2014/main" id="{DB5C4993-2910-97BB-B0EB-FF7CD2368269}"/>
              </a:ext>
            </a:extLst>
          </p:cNvPr>
          <p:cNvSpPr>
            <a:spLocks noGrp="1"/>
          </p:cNvSpPr>
          <p:nvPr>
            <p:ph sz="half" idx="2"/>
          </p:nvPr>
        </p:nvSpPr>
        <p:spPr>
          <a:xfrm>
            <a:off x="5964274" y="1152983"/>
            <a:ext cx="6028029" cy="5252299"/>
          </a:xfrm>
          <a:solidFill>
            <a:schemeClr val="bg1"/>
          </a:solidFill>
        </p:spPr>
        <p:txBody>
          <a:bodyPr>
            <a:normAutofit fontScale="62500" lnSpcReduction="20000"/>
          </a:bodyPr>
          <a:lstStyle/>
          <a:p>
            <a:pPr>
              <a:lnSpc>
                <a:spcPts val="1425"/>
              </a:lnSpc>
              <a:buNone/>
            </a:pPr>
            <a:r>
              <a:rPr lang="en-US" b="0" i="1" dirty="0">
                <a:solidFill>
                  <a:srgbClr val="9966B8"/>
                </a:solidFill>
                <a:effectLst/>
                <a:latin typeface="Consolas" panose="020B0609020204030204" pitchFamily="49" charset="0"/>
              </a:rPr>
              <a:t>def</a:t>
            </a:r>
            <a:r>
              <a:rPr lang="en-US" b="0" dirty="0">
                <a:solidFill>
                  <a:srgbClr val="6688CC"/>
                </a:solidFill>
                <a:effectLst/>
                <a:latin typeface="Consolas" panose="020B0609020204030204" pitchFamily="49" charset="0"/>
              </a:rPr>
              <a:t> </a:t>
            </a:r>
            <a:r>
              <a:rPr lang="en-US" b="0" dirty="0" err="1">
                <a:solidFill>
                  <a:srgbClr val="DDBB88"/>
                </a:solidFill>
                <a:effectLst/>
                <a:latin typeface="Consolas" panose="020B0609020204030204" pitchFamily="49" charset="0"/>
              </a:rPr>
              <a:t>get_score_bin</a:t>
            </a:r>
            <a:r>
              <a:rPr lang="en-US" b="0" dirty="0">
                <a:solidFill>
                  <a:srgbClr val="6688CC"/>
                </a:solidFill>
                <a:effectLst/>
                <a:latin typeface="Consolas" panose="020B0609020204030204" pitchFamily="49" charset="0"/>
              </a:rPr>
              <a:t>(</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 -&gt;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a:solidFill>
                  <a:srgbClr val="22AA44"/>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Final tuned score bins.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Decision-aware score bins concentrated around heuristic thresholds.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Boundaries informed by empirical baseline avg banking points: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Conservative: 21.6, Balanced: 29.7, Greedy: 34.0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Anything over 49 collapsed into bin 7 — rarely reached, behavior obvious.</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AA44"/>
                </a:solidFill>
                <a:effectLst/>
                <a:latin typeface="Consolas" panose="020B0609020204030204" pitchFamily="49" charset="0"/>
              </a:rPr>
              <a:t>    """</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12</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just draw, no real decision</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18</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approaching conservative threshold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23</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approaching balanced threshold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29</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3</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approaching greedy threshold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36</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4</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high risk zone</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42</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5</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very high</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round_score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49</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6</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extreme</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else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7</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50+ almost certainly stop</a:t>
            </a:r>
            <a:endParaRPr lang="en-US" b="0" dirty="0">
              <a:solidFill>
                <a:srgbClr val="6688CC"/>
              </a:solidFill>
              <a:effectLst/>
              <a:latin typeface="Consolas" panose="020B0609020204030204" pitchFamily="49" charset="0"/>
            </a:endParaRPr>
          </a:p>
          <a:p>
            <a:endParaRPr lang="en-US" dirty="0"/>
          </a:p>
        </p:txBody>
      </p:sp>
      <p:sp>
        <p:nvSpPr>
          <p:cNvPr id="5" name="Rectangle 4">
            <a:extLst>
              <a:ext uri="{FF2B5EF4-FFF2-40B4-BE49-F238E27FC236}">
                <a16:creationId xmlns:a16="http://schemas.microsoft.com/office/drawing/2014/main" id="{623AFBA5-8A15-35D0-32A4-F93414F2C766}"/>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7</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TextBox 6">
            <a:extLst>
              <a:ext uri="{FF2B5EF4-FFF2-40B4-BE49-F238E27FC236}">
                <a16:creationId xmlns:a16="http://schemas.microsoft.com/office/drawing/2014/main" id="{EFD39463-F7CB-3D98-AD8D-D4EADE611F87}"/>
              </a:ext>
            </a:extLst>
          </p:cNvPr>
          <p:cNvSpPr txBox="1"/>
          <p:nvPr/>
        </p:nvSpPr>
        <p:spPr>
          <a:xfrm>
            <a:off x="6101269" y="6489847"/>
            <a:ext cx="5974784" cy="276999"/>
          </a:xfrm>
          <a:prstGeom prst="rect">
            <a:avLst/>
          </a:prstGeom>
          <a:noFill/>
        </p:spPr>
        <p:txBody>
          <a:bodyPr wrap="square" rtlCol="0">
            <a:spAutoFit/>
          </a:bodyPr>
          <a:lstStyle/>
          <a:p>
            <a:r>
              <a:rPr lang="en-US" sz="1200" dirty="0"/>
              <a:t>(Watkins &amp; Dayan, Machine Learning, 1992) (Jang et al., IEEE Access, 2019)</a:t>
            </a:r>
          </a:p>
        </p:txBody>
      </p:sp>
    </p:spTree>
    <p:extLst>
      <p:ext uri="{BB962C8B-B14F-4D97-AF65-F5344CB8AC3E}">
        <p14:creationId xmlns:p14="http://schemas.microsoft.com/office/powerpoint/2010/main" val="1442008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2B65B-1278-1116-BE26-AB38EDF42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3B51C-323C-8556-7C7F-9FF9B31379C8}"/>
              </a:ext>
            </a:extLst>
          </p:cNvPr>
          <p:cNvSpPr>
            <a:spLocks noGrp="1"/>
          </p:cNvSpPr>
          <p:nvPr>
            <p:ph type="title"/>
          </p:nvPr>
        </p:nvSpPr>
        <p:spPr>
          <a:xfrm>
            <a:off x="498966" y="186531"/>
            <a:ext cx="9404723" cy="801441"/>
          </a:xfrm>
        </p:spPr>
        <p:txBody>
          <a:bodyPr/>
          <a:lstStyle/>
          <a:p>
            <a:r>
              <a:rPr lang="en-US" dirty="0"/>
              <a:t>Q-Learning Agent Design</a:t>
            </a:r>
          </a:p>
        </p:txBody>
      </p:sp>
      <p:graphicFrame>
        <p:nvGraphicFramePr>
          <p:cNvPr id="6" name="Content Placeholder 5">
            <a:extLst>
              <a:ext uri="{FF2B5EF4-FFF2-40B4-BE49-F238E27FC236}">
                <a16:creationId xmlns:a16="http://schemas.microsoft.com/office/drawing/2014/main" id="{B9D6D391-9487-B174-3C65-D09AEDA0EF03}"/>
              </a:ext>
            </a:extLst>
          </p:cNvPr>
          <p:cNvGraphicFramePr>
            <a:graphicFrameLocks noGrp="1"/>
          </p:cNvGraphicFramePr>
          <p:nvPr>
            <p:ph sz="half" idx="1"/>
          </p:nvPr>
        </p:nvGraphicFramePr>
        <p:xfrm>
          <a:off x="115947" y="987971"/>
          <a:ext cx="5769846" cy="5683499"/>
        </p:xfrm>
        <a:graphic>
          <a:graphicData uri="http://schemas.openxmlformats.org/drawingml/2006/table">
            <a:tbl>
              <a:tblPr firstRow="1" bandRow="1">
                <a:tableStyleId>{5C22544A-7EE6-4342-B048-85BDC9FD1C3A}</a:tableStyleId>
              </a:tblPr>
              <a:tblGrid>
                <a:gridCol w="1439584">
                  <a:extLst>
                    <a:ext uri="{9D8B030D-6E8A-4147-A177-3AD203B41FA5}">
                      <a16:colId xmlns:a16="http://schemas.microsoft.com/office/drawing/2014/main" val="3735576473"/>
                    </a:ext>
                  </a:extLst>
                </a:gridCol>
                <a:gridCol w="2371946">
                  <a:extLst>
                    <a:ext uri="{9D8B030D-6E8A-4147-A177-3AD203B41FA5}">
                      <a16:colId xmlns:a16="http://schemas.microsoft.com/office/drawing/2014/main" val="2866647043"/>
                    </a:ext>
                  </a:extLst>
                </a:gridCol>
                <a:gridCol w="1958316">
                  <a:extLst>
                    <a:ext uri="{9D8B030D-6E8A-4147-A177-3AD203B41FA5}">
                      <a16:colId xmlns:a16="http://schemas.microsoft.com/office/drawing/2014/main" val="1914199068"/>
                    </a:ext>
                  </a:extLst>
                </a:gridCol>
              </a:tblGrid>
              <a:tr h="936073">
                <a:tc>
                  <a:txBody>
                    <a:bodyPr/>
                    <a:lstStyle/>
                    <a:p>
                      <a:r>
                        <a:rPr lang="en-US" dirty="0"/>
                        <a:t>Design Choice</a:t>
                      </a:r>
                    </a:p>
                  </a:txBody>
                  <a:tcPr/>
                </a:tc>
                <a:tc>
                  <a:txBody>
                    <a:bodyPr/>
                    <a:lstStyle/>
                    <a:p>
                      <a:r>
                        <a:rPr lang="en-US" dirty="0"/>
                        <a:t>Value/ Structure</a:t>
                      </a:r>
                    </a:p>
                  </a:txBody>
                  <a:tcPr/>
                </a:tc>
                <a:tc>
                  <a:txBody>
                    <a:bodyPr/>
                    <a:lstStyle/>
                    <a:p>
                      <a:r>
                        <a:rPr lang="en-US" dirty="0"/>
                        <a:t>Reason</a:t>
                      </a:r>
                    </a:p>
                  </a:txBody>
                  <a:tcPr/>
                </a:tc>
                <a:extLst>
                  <a:ext uri="{0D108BD9-81ED-4DB2-BD59-A6C34878D82A}">
                    <a16:rowId xmlns:a16="http://schemas.microsoft.com/office/drawing/2014/main" val="123744815"/>
                  </a:ext>
                </a:extLst>
              </a:tr>
              <a:tr h="878511">
                <a:tc>
                  <a:txBody>
                    <a:bodyPr/>
                    <a:lstStyle/>
                    <a:p>
                      <a:r>
                        <a:rPr lang="en-US" dirty="0"/>
                        <a:t>Algorithm</a:t>
                      </a:r>
                    </a:p>
                  </a:txBody>
                  <a:tcPr/>
                </a:tc>
                <a:tc>
                  <a:txBody>
                    <a:bodyPr/>
                    <a:lstStyle/>
                    <a:p>
                      <a:r>
                        <a:rPr lang="en-US" dirty="0"/>
                        <a:t>Tabular Q-Learning</a:t>
                      </a:r>
                    </a:p>
                  </a:txBody>
                  <a:tcPr/>
                </a:tc>
                <a:tc>
                  <a:txBody>
                    <a:bodyPr/>
                    <a:lstStyle/>
                    <a:p>
                      <a:r>
                        <a:rPr lang="en-US" dirty="0"/>
                        <a:t>Transparent – ease of use</a:t>
                      </a:r>
                    </a:p>
                  </a:txBody>
                  <a:tcPr/>
                </a:tc>
                <a:extLst>
                  <a:ext uri="{0D108BD9-81ED-4DB2-BD59-A6C34878D82A}">
                    <a16:rowId xmlns:a16="http://schemas.microsoft.com/office/drawing/2014/main" val="2019871279"/>
                  </a:ext>
                </a:extLst>
              </a:tr>
              <a:tr h="934135">
                <a:tc>
                  <a:txBody>
                    <a:bodyPr/>
                    <a:lstStyle/>
                    <a:p>
                      <a:r>
                        <a:rPr lang="en-US" dirty="0"/>
                        <a:t>State</a:t>
                      </a:r>
                    </a:p>
                  </a:txBody>
                  <a:tcPr/>
                </a:tc>
                <a:tc>
                  <a:txBody>
                    <a:bodyPr/>
                    <a:lstStyle/>
                    <a:p>
                      <a:r>
                        <a:rPr lang="en-US" dirty="0" err="1"/>
                        <a:t>Score_bin</a:t>
                      </a:r>
                      <a:r>
                        <a:rPr lang="en-US" dirty="0"/>
                        <a:t>, cards drawn, </a:t>
                      </a:r>
                      <a:r>
                        <a:rPr lang="en-US" dirty="0" err="1"/>
                        <a:t>Gap_bin</a:t>
                      </a:r>
                      <a:r>
                        <a:rPr lang="en-US" dirty="0"/>
                        <a:t>, 2</a:t>
                      </a:r>
                      <a:r>
                        <a:rPr lang="en-US" baseline="30000" dirty="0"/>
                        <a:t>nd</a:t>
                      </a:r>
                      <a:r>
                        <a:rPr lang="en-US" dirty="0"/>
                        <a:t> chance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Captures risk and position</a:t>
                      </a:r>
                    </a:p>
                    <a:p>
                      <a:endParaRPr lang="en-US" dirty="0"/>
                    </a:p>
                  </a:txBody>
                  <a:tcPr/>
                </a:tc>
                <a:extLst>
                  <a:ext uri="{0D108BD9-81ED-4DB2-BD59-A6C34878D82A}">
                    <a16:rowId xmlns:a16="http://schemas.microsoft.com/office/drawing/2014/main" val="851920445"/>
                  </a:ext>
                </a:extLst>
              </a:tr>
              <a:tr h="653895">
                <a:tc>
                  <a:txBody>
                    <a:bodyPr/>
                    <a:lstStyle/>
                    <a:p>
                      <a:r>
                        <a:rPr lang="en-US" dirty="0"/>
                        <a:t>Actions</a:t>
                      </a:r>
                    </a:p>
                  </a:txBody>
                  <a:tcPr/>
                </a:tc>
                <a:tc>
                  <a:txBody>
                    <a:bodyPr/>
                    <a:lstStyle/>
                    <a:p>
                      <a:r>
                        <a:rPr lang="en-US" dirty="0"/>
                        <a:t>Draw, Stop</a:t>
                      </a:r>
                    </a:p>
                  </a:txBody>
                  <a:tcPr/>
                </a:tc>
                <a:tc>
                  <a:txBody>
                    <a:bodyPr/>
                    <a:lstStyle/>
                    <a:p>
                      <a:r>
                        <a:rPr lang="en-US" dirty="0"/>
                        <a:t>Stopping Decision</a:t>
                      </a:r>
                    </a:p>
                  </a:txBody>
                  <a:tcPr/>
                </a:tc>
                <a:extLst>
                  <a:ext uri="{0D108BD9-81ED-4DB2-BD59-A6C34878D82A}">
                    <a16:rowId xmlns:a16="http://schemas.microsoft.com/office/drawing/2014/main" val="1370459665"/>
                  </a:ext>
                </a:extLst>
              </a:tr>
              <a:tr h="542330">
                <a:tc>
                  <a:txBody>
                    <a:bodyPr/>
                    <a:lstStyle/>
                    <a:p>
                      <a:r>
                        <a:rPr lang="en-US" dirty="0"/>
                        <a:t>Training</a:t>
                      </a:r>
                    </a:p>
                  </a:txBody>
                  <a:tcPr/>
                </a:tc>
                <a:tc>
                  <a:txBody>
                    <a:bodyPr/>
                    <a:lstStyle/>
                    <a:p>
                      <a:r>
                        <a:rPr lang="en-US" dirty="0"/>
                        <a:t>10,000 Games</a:t>
                      </a:r>
                    </a:p>
                  </a:txBody>
                  <a:tcPr/>
                </a:tc>
                <a:tc>
                  <a:txBody>
                    <a:bodyPr/>
                    <a:lstStyle/>
                    <a:p>
                      <a:r>
                        <a:rPr lang="en-US" dirty="0"/>
                        <a:t>Training time</a:t>
                      </a:r>
                    </a:p>
                  </a:txBody>
                  <a:tcPr/>
                </a:tc>
                <a:extLst>
                  <a:ext uri="{0D108BD9-81ED-4DB2-BD59-A6C34878D82A}">
                    <a16:rowId xmlns:a16="http://schemas.microsoft.com/office/drawing/2014/main" val="4282280813"/>
                  </a:ext>
                </a:extLst>
              </a:tr>
              <a:tr h="653895">
                <a:tc>
                  <a:txBody>
                    <a:bodyPr/>
                    <a:lstStyle/>
                    <a:p>
                      <a:r>
                        <a:rPr lang="en-US" dirty="0"/>
                        <a:t>Learning Rate</a:t>
                      </a:r>
                    </a:p>
                  </a:txBody>
                  <a:tcPr/>
                </a:tc>
                <a:tc>
                  <a:txBody>
                    <a:bodyPr/>
                    <a:lstStyle/>
                    <a:p>
                      <a:pPr>
                        <a:buNone/>
                      </a:pPr>
                      <a:r>
                        <a:rPr lang="en-US" dirty="0"/>
                        <a:t>Alpha = 0.7</a:t>
                      </a:r>
                    </a:p>
                  </a:txBody>
                  <a:tcPr anchor="ctr"/>
                </a:tc>
                <a:tc>
                  <a:txBody>
                    <a:bodyPr/>
                    <a:lstStyle/>
                    <a:p>
                      <a:r>
                        <a:rPr lang="en-US" dirty="0"/>
                        <a:t>Faster Learning</a:t>
                      </a:r>
                    </a:p>
                  </a:txBody>
                  <a:tcPr/>
                </a:tc>
                <a:extLst>
                  <a:ext uri="{0D108BD9-81ED-4DB2-BD59-A6C34878D82A}">
                    <a16:rowId xmlns:a16="http://schemas.microsoft.com/office/drawing/2014/main" val="2043489020"/>
                  </a:ext>
                </a:extLst>
              </a:tr>
              <a:tr h="542330">
                <a:tc>
                  <a:txBody>
                    <a:bodyPr/>
                    <a:lstStyle/>
                    <a:p>
                      <a:r>
                        <a:rPr lang="en-US" dirty="0"/>
                        <a:t>Discount</a:t>
                      </a:r>
                    </a:p>
                  </a:txBody>
                  <a:tcPr/>
                </a:tc>
                <a:tc>
                  <a:txBody>
                    <a:bodyPr/>
                    <a:lstStyle/>
                    <a:p>
                      <a:r>
                        <a:rPr lang="en-US" dirty="0"/>
                        <a:t>y = 0.63</a:t>
                      </a:r>
                    </a:p>
                  </a:txBody>
                  <a:tcPr/>
                </a:tc>
                <a:tc>
                  <a:txBody>
                    <a:bodyPr/>
                    <a:lstStyle/>
                    <a:p>
                      <a:r>
                        <a:rPr lang="en-US" dirty="0"/>
                        <a:t>Future Rewards</a:t>
                      </a:r>
                    </a:p>
                  </a:txBody>
                  <a:tcPr/>
                </a:tc>
                <a:extLst>
                  <a:ext uri="{0D108BD9-81ED-4DB2-BD59-A6C34878D82A}">
                    <a16:rowId xmlns:a16="http://schemas.microsoft.com/office/drawing/2014/main" val="3387188927"/>
                  </a:ext>
                </a:extLst>
              </a:tr>
              <a:tr h="542330">
                <a:tc>
                  <a:txBody>
                    <a:bodyPr/>
                    <a:lstStyle/>
                    <a:p>
                      <a:r>
                        <a:rPr lang="en-US" dirty="0"/>
                        <a:t>Exploration</a:t>
                      </a:r>
                    </a:p>
                  </a:txBody>
                  <a:tcPr/>
                </a:tc>
                <a:tc>
                  <a:txBody>
                    <a:bodyPr/>
                    <a:lstStyle/>
                    <a:p>
                      <a:r>
                        <a:rPr lang="en-US" dirty="0"/>
                        <a:t>Decay to 0.05</a:t>
                      </a:r>
                    </a:p>
                  </a:txBody>
                  <a:tcPr/>
                </a:tc>
                <a:tc>
                  <a:txBody>
                    <a:bodyPr/>
                    <a:lstStyle/>
                    <a:p>
                      <a:r>
                        <a:rPr lang="en-US" dirty="0"/>
                        <a:t>Explore Early</a:t>
                      </a:r>
                    </a:p>
                  </a:txBody>
                  <a:tcPr/>
                </a:tc>
                <a:extLst>
                  <a:ext uri="{0D108BD9-81ED-4DB2-BD59-A6C34878D82A}">
                    <a16:rowId xmlns:a16="http://schemas.microsoft.com/office/drawing/2014/main" val="683213968"/>
                  </a:ext>
                </a:extLst>
              </a:tr>
            </a:tbl>
          </a:graphicData>
        </a:graphic>
      </p:graphicFrame>
      <p:sp>
        <p:nvSpPr>
          <p:cNvPr id="5" name="Rectangle 4">
            <a:extLst>
              <a:ext uri="{FF2B5EF4-FFF2-40B4-BE49-F238E27FC236}">
                <a16:creationId xmlns:a16="http://schemas.microsoft.com/office/drawing/2014/main" id="{F9D8D978-6616-D564-6526-884AD560347A}"/>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7</a:t>
            </a: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9" name="Content Placeholder 8">
            <a:extLst>
              <a:ext uri="{FF2B5EF4-FFF2-40B4-BE49-F238E27FC236}">
                <a16:creationId xmlns:a16="http://schemas.microsoft.com/office/drawing/2014/main" id="{F1AD86FE-6670-FBAA-442A-0BF1C421B644}"/>
              </a:ext>
            </a:extLst>
          </p:cNvPr>
          <p:cNvPicPr>
            <a:picLocks noGrp="1" noChangeAspect="1"/>
          </p:cNvPicPr>
          <p:nvPr>
            <p:ph sz="half" idx="2"/>
          </p:nvPr>
        </p:nvPicPr>
        <p:blipFill>
          <a:blip r:embed="rId3"/>
          <a:stretch>
            <a:fillRect/>
          </a:stretch>
        </p:blipFill>
        <p:spPr>
          <a:xfrm>
            <a:off x="6268812" y="1152983"/>
            <a:ext cx="5062307" cy="5518486"/>
          </a:xfrm>
          <a:prstGeom prst="rect">
            <a:avLst/>
          </a:prstGeom>
        </p:spPr>
      </p:pic>
    </p:spTree>
    <p:extLst>
      <p:ext uri="{BB962C8B-B14F-4D97-AF65-F5344CB8AC3E}">
        <p14:creationId xmlns:p14="http://schemas.microsoft.com/office/powerpoint/2010/main" val="214787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EA5E-D074-B9EC-3E15-5A4377543227}"/>
              </a:ext>
            </a:extLst>
          </p:cNvPr>
          <p:cNvSpPr>
            <a:spLocks noGrp="1"/>
          </p:cNvSpPr>
          <p:nvPr>
            <p:ph type="title"/>
          </p:nvPr>
        </p:nvSpPr>
        <p:spPr/>
        <p:txBody>
          <a:bodyPr/>
          <a:lstStyle/>
          <a:p>
            <a:r>
              <a:rPr lang="en-US" dirty="0"/>
              <a:t>Reward Function</a:t>
            </a:r>
          </a:p>
        </p:txBody>
      </p:sp>
      <p:graphicFrame>
        <p:nvGraphicFramePr>
          <p:cNvPr id="5" name="Content Placeholder 4">
            <a:extLst>
              <a:ext uri="{FF2B5EF4-FFF2-40B4-BE49-F238E27FC236}">
                <a16:creationId xmlns:a16="http://schemas.microsoft.com/office/drawing/2014/main" id="{37C75FD6-DB2C-648B-899C-06C23A57D2AC}"/>
              </a:ext>
            </a:extLst>
          </p:cNvPr>
          <p:cNvGraphicFramePr>
            <a:graphicFrameLocks noGrp="1"/>
          </p:cNvGraphicFramePr>
          <p:nvPr>
            <p:ph sz="half" idx="1"/>
            <p:extLst>
              <p:ext uri="{D42A27DB-BD31-4B8C-83A1-F6EECF244321}">
                <p14:modId xmlns:p14="http://schemas.microsoft.com/office/powerpoint/2010/main" val="2436907719"/>
              </p:ext>
            </p:extLst>
          </p:nvPr>
        </p:nvGraphicFramePr>
        <p:xfrm>
          <a:off x="646111" y="3581302"/>
          <a:ext cx="4395786" cy="1483360"/>
        </p:xfrm>
        <a:graphic>
          <a:graphicData uri="http://schemas.openxmlformats.org/drawingml/2006/table">
            <a:tbl>
              <a:tblPr firstRow="1" bandRow="1">
                <a:tableStyleId>{5C22544A-7EE6-4342-B048-85BDC9FD1C3A}</a:tableStyleId>
              </a:tblPr>
              <a:tblGrid>
                <a:gridCol w="2197893">
                  <a:extLst>
                    <a:ext uri="{9D8B030D-6E8A-4147-A177-3AD203B41FA5}">
                      <a16:colId xmlns:a16="http://schemas.microsoft.com/office/drawing/2014/main" val="1921176742"/>
                    </a:ext>
                  </a:extLst>
                </a:gridCol>
                <a:gridCol w="2197893">
                  <a:extLst>
                    <a:ext uri="{9D8B030D-6E8A-4147-A177-3AD203B41FA5}">
                      <a16:colId xmlns:a16="http://schemas.microsoft.com/office/drawing/2014/main" val="2244499381"/>
                    </a:ext>
                  </a:extLst>
                </a:gridCol>
              </a:tblGrid>
              <a:tr h="370840">
                <a:tc>
                  <a:txBody>
                    <a:bodyPr/>
                    <a:lstStyle/>
                    <a:p>
                      <a:r>
                        <a:rPr lang="en-US" dirty="0"/>
                        <a:t>Situation</a:t>
                      </a:r>
                    </a:p>
                  </a:txBody>
                  <a:tcPr/>
                </a:tc>
                <a:tc>
                  <a:txBody>
                    <a:bodyPr/>
                    <a:lstStyle/>
                    <a:p>
                      <a:r>
                        <a:rPr lang="en-US" dirty="0"/>
                        <a:t>Penalty</a:t>
                      </a:r>
                    </a:p>
                  </a:txBody>
                  <a:tcPr/>
                </a:tc>
                <a:extLst>
                  <a:ext uri="{0D108BD9-81ED-4DB2-BD59-A6C34878D82A}">
                    <a16:rowId xmlns:a16="http://schemas.microsoft.com/office/drawing/2014/main" val="2737446261"/>
                  </a:ext>
                </a:extLst>
              </a:tr>
              <a:tr h="370840">
                <a:tc>
                  <a:txBody>
                    <a:bodyPr/>
                    <a:lstStyle/>
                    <a:p>
                      <a:r>
                        <a:rPr lang="en-US" dirty="0"/>
                        <a:t>Ahead by 45+</a:t>
                      </a:r>
                    </a:p>
                  </a:txBody>
                  <a:tcPr/>
                </a:tc>
                <a:tc>
                  <a:txBody>
                    <a:bodyPr/>
                    <a:lstStyle/>
                    <a:p>
                      <a:r>
                        <a:rPr lang="en-US" dirty="0"/>
                        <a:t>-0.60</a:t>
                      </a:r>
                    </a:p>
                  </a:txBody>
                  <a:tcPr/>
                </a:tc>
                <a:extLst>
                  <a:ext uri="{0D108BD9-81ED-4DB2-BD59-A6C34878D82A}">
                    <a16:rowId xmlns:a16="http://schemas.microsoft.com/office/drawing/2014/main" val="147035385"/>
                  </a:ext>
                </a:extLst>
              </a:tr>
              <a:tr h="370840">
                <a:tc>
                  <a:txBody>
                    <a:bodyPr/>
                    <a:lstStyle/>
                    <a:p>
                      <a:r>
                        <a:rPr lang="en-US" dirty="0"/>
                        <a:t>Ahead by 20-44</a:t>
                      </a:r>
                    </a:p>
                  </a:txBody>
                  <a:tcPr/>
                </a:tc>
                <a:tc>
                  <a:txBody>
                    <a:bodyPr/>
                    <a:lstStyle/>
                    <a:p>
                      <a:r>
                        <a:rPr lang="en-US" dirty="0"/>
                        <a:t>-0.45</a:t>
                      </a:r>
                    </a:p>
                  </a:txBody>
                  <a:tcPr/>
                </a:tc>
                <a:extLst>
                  <a:ext uri="{0D108BD9-81ED-4DB2-BD59-A6C34878D82A}">
                    <a16:rowId xmlns:a16="http://schemas.microsoft.com/office/drawing/2014/main" val="3666615968"/>
                  </a:ext>
                </a:extLst>
              </a:tr>
              <a:tr h="370840">
                <a:tc>
                  <a:txBody>
                    <a:bodyPr/>
                    <a:lstStyle/>
                    <a:p>
                      <a:r>
                        <a:rPr lang="en-US" dirty="0"/>
                        <a:t>Even or trailing</a:t>
                      </a:r>
                    </a:p>
                  </a:txBody>
                  <a:tcPr/>
                </a:tc>
                <a:tc>
                  <a:txBody>
                    <a:bodyPr/>
                    <a:lstStyle/>
                    <a:p>
                      <a:r>
                        <a:rPr lang="en-US" dirty="0"/>
                        <a:t>-0.30</a:t>
                      </a:r>
                    </a:p>
                  </a:txBody>
                  <a:tcPr/>
                </a:tc>
                <a:extLst>
                  <a:ext uri="{0D108BD9-81ED-4DB2-BD59-A6C34878D82A}">
                    <a16:rowId xmlns:a16="http://schemas.microsoft.com/office/drawing/2014/main" val="883763610"/>
                  </a:ext>
                </a:extLst>
              </a:tr>
            </a:tbl>
          </a:graphicData>
        </a:graphic>
      </p:graphicFrame>
      <p:sp>
        <p:nvSpPr>
          <p:cNvPr id="6" name="TextBox 5">
            <a:extLst>
              <a:ext uri="{FF2B5EF4-FFF2-40B4-BE49-F238E27FC236}">
                <a16:creationId xmlns:a16="http://schemas.microsoft.com/office/drawing/2014/main" id="{CE226FFE-45C4-DC34-BF8E-117BBBA33AB9}"/>
              </a:ext>
            </a:extLst>
          </p:cNvPr>
          <p:cNvSpPr txBox="1"/>
          <p:nvPr/>
        </p:nvSpPr>
        <p:spPr>
          <a:xfrm>
            <a:off x="646111" y="2056091"/>
            <a:ext cx="4395786" cy="986653"/>
          </a:xfrm>
          <a:prstGeom prst="rect">
            <a:avLst/>
          </a:prstGeom>
          <a:noFill/>
        </p:spPr>
        <p:txBody>
          <a:bodyPr wrap="square" rtlCol="0">
            <a:spAutoFit/>
          </a:bodyPr>
          <a:lstStyle/>
          <a:p>
            <a:endParaRPr lang="en-US" dirty="0"/>
          </a:p>
        </p:txBody>
      </p:sp>
      <p:pic>
        <p:nvPicPr>
          <p:cNvPr id="8" name="Picture 7">
            <a:extLst>
              <a:ext uri="{FF2B5EF4-FFF2-40B4-BE49-F238E27FC236}">
                <a16:creationId xmlns:a16="http://schemas.microsoft.com/office/drawing/2014/main" id="{758DD59E-943A-EE73-C093-0C609307C6C9}"/>
              </a:ext>
            </a:extLst>
          </p:cNvPr>
          <p:cNvPicPr>
            <a:picLocks noChangeAspect="1"/>
          </p:cNvPicPr>
          <p:nvPr/>
        </p:nvPicPr>
        <p:blipFill>
          <a:blip r:embed="rId3"/>
          <a:stretch>
            <a:fillRect/>
          </a:stretch>
        </p:blipFill>
        <p:spPr>
          <a:xfrm>
            <a:off x="808240" y="2110407"/>
            <a:ext cx="3999867" cy="878020"/>
          </a:xfrm>
          <a:prstGeom prst="rect">
            <a:avLst/>
          </a:prstGeom>
        </p:spPr>
      </p:pic>
      <p:pic>
        <p:nvPicPr>
          <p:cNvPr id="10" name="Picture 9">
            <a:extLst>
              <a:ext uri="{FF2B5EF4-FFF2-40B4-BE49-F238E27FC236}">
                <a16:creationId xmlns:a16="http://schemas.microsoft.com/office/drawing/2014/main" id="{9560F824-2555-E0BA-12AF-2C96EEEA1E11}"/>
              </a:ext>
            </a:extLst>
          </p:cNvPr>
          <p:cNvPicPr>
            <a:picLocks noChangeAspect="1"/>
          </p:cNvPicPr>
          <p:nvPr/>
        </p:nvPicPr>
        <p:blipFill>
          <a:blip r:embed="rId4"/>
          <a:stretch>
            <a:fillRect/>
          </a:stretch>
        </p:blipFill>
        <p:spPr>
          <a:xfrm>
            <a:off x="1713507" y="5700334"/>
            <a:ext cx="2248214" cy="704948"/>
          </a:xfrm>
          <a:prstGeom prst="rect">
            <a:avLst/>
          </a:prstGeom>
        </p:spPr>
      </p:pic>
      <p:sp>
        <p:nvSpPr>
          <p:cNvPr id="11" name="TextBox 10">
            <a:extLst>
              <a:ext uri="{FF2B5EF4-FFF2-40B4-BE49-F238E27FC236}">
                <a16:creationId xmlns:a16="http://schemas.microsoft.com/office/drawing/2014/main" id="{374837C0-A1E9-A8A1-1883-45C7F5FE83E1}"/>
              </a:ext>
            </a:extLst>
          </p:cNvPr>
          <p:cNvSpPr txBox="1"/>
          <p:nvPr/>
        </p:nvSpPr>
        <p:spPr>
          <a:xfrm>
            <a:off x="2141166" y="5298616"/>
            <a:ext cx="1392896" cy="369332"/>
          </a:xfrm>
          <a:prstGeom prst="rect">
            <a:avLst/>
          </a:prstGeom>
          <a:noFill/>
        </p:spPr>
        <p:txBody>
          <a:bodyPr wrap="square" rtlCol="0">
            <a:spAutoFit/>
          </a:bodyPr>
          <a:lstStyle/>
          <a:p>
            <a:r>
              <a:rPr lang="en-US" dirty="0"/>
              <a:t>Win Bonus</a:t>
            </a:r>
          </a:p>
        </p:txBody>
      </p:sp>
      <p:sp>
        <p:nvSpPr>
          <p:cNvPr id="12" name="TextBox 11">
            <a:extLst>
              <a:ext uri="{FF2B5EF4-FFF2-40B4-BE49-F238E27FC236}">
                <a16:creationId xmlns:a16="http://schemas.microsoft.com/office/drawing/2014/main" id="{25B229E0-6CE1-1F62-3C3E-46244C556C07}"/>
              </a:ext>
            </a:extLst>
          </p:cNvPr>
          <p:cNvSpPr txBox="1"/>
          <p:nvPr/>
        </p:nvSpPr>
        <p:spPr>
          <a:xfrm>
            <a:off x="1937349" y="3060921"/>
            <a:ext cx="1813310" cy="369332"/>
          </a:xfrm>
          <a:prstGeom prst="rect">
            <a:avLst/>
          </a:prstGeom>
          <a:noFill/>
        </p:spPr>
        <p:txBody>
          <a:bodyPr wrap="square" rtlCol="0">
            <a:spAutoFit/>
          </a:bodyPr>
          <a:lstStyle/>
          <a:p>
            <a:r>
              <a:rPr lang="en-US" dirty="0"/>
              <a:t>Bust Penalty</a:t>
            </a:r>
          </a:p>
        </p:txBody>
      </p:sp>
      <p:sp>
        <p:nvSpPr>
          <p:cNvPr id="13" name="TextBox 12">
            <a:extLst>
              <a:ext uri="{FF2B5EF4-FFF2-40B4-BE49-F238E27FC236}">
                <a16:creationId xmlns:a16="http://schemas.microsoft.com/office/drawing/2014/main" id="{89876E35-CC29-1543-D562-AB1ED79F88D7}"/>
              </a:ext>
            </a:extLst>
          </p:cNvPr>
          <p:cNvSpPr txBox="1"/>
          <p:nvPr/>
        </p:nvSpPr>
        <p:spPr>
          <a:xfrm>
            <a:off x="1967346" y="1590026"/>
            <a:ext cx="1744717" cy="369332"/>
          </a:xfrm>
          <a:prstGeom prst="rect">
            <a:avLst/>
          </a:prstGeom>
          <a:noFill/>
        </p:spPr>
        <p:txBody>
          <a:bodyPr wrap="square" rtlCol="0">
            <a:spAutoFit/>
          </a:bodyPr>
          <a:lstStyle/>
          <a:p>
            <a:r>
              <a:rPr lang="en-US" dirty="0"/>
              <a:t>Bank Reward</a:t>
            </a:r>
          </a:p>
        </p:txBody>
      </p:sp>
      <p:sp>
        <p:nvSpPr>
          <p:cNvPr id="14" name="TextBox 13">
            <a:extLst>
              <a:ext uri="{FF2B5EF4-FFF2-40B4-BE49-F238E27FC236}">
                <a16:creationId xmlns:a16="http://schemas.microsoft.com/office/drawing/2014/main" id="{31EA7665-D9E0-936A-E6CA-693DB30E3616}"/>
              </a:ext>
            </a:extLst>
          </p:cNvPr>
          <p:cNvSpPr txBox="1"/>
          <p:nvPr/>
        </p:nvSpPr>
        <p:spPr>
          <a:xfrm>
            <a:off x="5204026" y="1823247"/>
            <a:ext cx="6843528" cy="3877087"/>
          </a:xfrm>
          <a:prstGeom prst="rect">
            <a:avLst/>
          </a:prstGeom>
          <a:solidFill>
            <a:schemeClr val="bg1"/>
          </a:solidFill>
        </p:spPr>
        <p:txBody>
          <a:bodyPr wrap="square" rtlCol="0">
            <a:spAutoFit/>
          </a:bodyPr>
          <a:lstStyle/>
          <a:p>
            <a:pPr>
              <a:lnSpc>
                <a:spcPts val="1425"/>
              </a:lnSpc>
              <a:buNone/>
            </a:pPr>
            <a:r>
              <a:rPr lang="en-US" b="0" i="1" dirty="0">
                <a:solidFill>
                  <a:srgbClr val="9966B8"/>
                </a:solidFill>
                <a:effectLst/>
                <a:latin typeface="Consolas" panose="020B0609020204030204" pitchFamily="49" charset="0"/>
              </a:rPr>
              <a:t>def</a:t>
            </a:r>
            <a:r>
              <a:rPr lang="en-US" b="0" dirty="0">
                <a:solidFill>
                  <a:srgbClr val="6688CC"/>
                </a:solidFill>
                <a:effectLst/>
                <a:latin typeface="Consolas" panose="020B0609020204030204" pitchFamily="49" charset="0"/>
              </a:rPr>
              <a:t> </a:t>
            </a:r>
            <a:r>
              <a:rPr lang="en-US" b="0" dirty="0" err="1">
                <a:solidFill>
                  <a:srgbClr val="DDBB88"/>
                </a:solidFill>
                <a:effectLst/>
                <a:latin typeface="Consolas" panose="020B0609020204030204" pitchFamily="49" charset="0"/>
              </a:rPr>
              <a:t>compute_reward</a:t>
            </a:r>
            <a:r>
              <a:rPr lang="en-US" b="0" dirty="0">
                <a:solidFill>
                  <a:srgbClr val="6688CC"/>
                </a:solidFill>
                <a:effectLst/>
                <a:latin typeface="Consolas" panose="020B0609020204030204" pitchFamily="49" charset="0"/>
              </a:rPr>
              <a:t>(</a:t>
            </a:r>
            <a:r>
              <a:rPr lang="en-US" b="0" i="1" dirty="0" err="1">
                <a:solidFill>
                  <a:srgbClr val="2277FF"/>
                </a:solidFill>
                <a:effectLst/>
                <a:latin typeface="Consolas" panose="020B0609020204030204" pitchFamily="49" charset="0"/>
              </a:rPr>
              <a:t>points_banked</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 </a:t>
            </a:r>
            <a:r>
              <a:rPr lang="en-US" b="0" i="1" dirty="0">
                <a:solidFill>
                  <a:srgbClr val="2277FF"/>
                </a:solidFill>
                <a:effectLst/>
                <a:latin typeface="Consolas" panose="020B0609020204030204" pitchFamily="49" charset="0"/>
              </a:rPr>
              <a:t>busted</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bool</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score_gap</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win_threshold</a:t>
            </a:r>
            <a:r>
              <a:rPr lang="en-US" b="0" dirty="0">
                <a:solidFill>
                  <a:srgbClr val="6688CC"/>
                </a:solidFill>
                <a:effectLst/>
                <a:latin typeface="Consolas" panose="020B0609020204030204" pitchFamily="49" charset="0"/>
              </a:rPr>
              <a:t>: </a:t>
            </a:r>
            <a:r>
              <a:rPr lang="en-US" b="0" u="sng" dirty="0">
                <a:solidFill>
                  <a:srgbClr val="FFEEBB"/>
                </a:solidFill>
                <a:effectLst/>
                <a:latin typeface="Consolas" panose="020B0609020204030204" pitchFamily="49" charset="0"/>
              </a:rPr>
              <a:t>int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200</a:t>
            </a:r>
            <a:r>
              <a:rPr lang="en-US" b="0" dirty="0">
                <a:solidFill>
                  <a:srgbClr val="6688CC"/>
                </a:solidFill>
                <a:effectLst/>
                <a:latin typeface="Consolas" panose="020B0609020204030204" pitchFamily="49" charset="0"/>
              </a:rPr>
              <a:t>) -&gt; </a:t>
            </a:r>
            <a:r>
              <a:rPr lang="en-US" b="0" u="sng" dirty="0">
                <a:solidFill>
                  <a:srgbClr val="FFEEBB"/>
                </a:solidFill>
                <a:effectLst/>
                <a:latin typeface="Consolas" panose="020B0609020204030204" pitchFamily="49" charset="0"/>
              </a:rPr>
              <a:t>float</a:t>
            </a:r>
            <a:r>
              <a:rPr lang="en-US" b="0" dirty="0">
                <a:solidFill>
                  <a:srgbClr val="6688CC"/>
                </a:solidFill>
                <a:effectLst/>
                <a:latin typeface="Consolas" panose="020B0609020204030204" pitchFamily="49" charset="0"/>
              </a:rPr>
              <a:t>:</a:t>
            </a:r>
          </a:p>
          <a:p>
            <a:pPr>
              <a:lnSpc>
                <a:spcPts val="1425"/>
              </a:lnSpc>
              <a:buNone/>
            </a:pPr>
            <a:r>
              <a:rPr lang="en-US" b="0" dirty="0">
                <a:solidFill>
                  <a:srgbClr val="22AA44"/>
                </a:solidFill>
                <a:effectLst/>
                <a:latin typeface="Consolas" panose="020B0609020204030204" pitchFamily="49" charset="0"/>
              </a:rPr>
              <a:t>    """</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if</a:t>
            </a:r>
            <a:r>
              <a:rPr lang="en-US" b="0" dirty="0">
                <a:solidFill>
                  <a:srgbClr val="6688CC"/>
                </a:solidFill>
                <a:effectLst/>
                <a:latin typeface="Consolas" panose="020B0609020204030204" pitchFamily="49" charset="0"/>
              </a:rPr>
              <a:t> </a:t>
            </a:r>
            <a:r>
              <a:rPr lang="en-US" b="0" i="1" dirty="0">
                <a:solidFill>
                  <a:srgbClr val="2277FF"/>
                </a:solidFill>
                <a:effectLst/>
                <a:latin typeface="Consolas" panose="020B0609020204030204" pitchFamily="49" charset="0"/>
              </a:rPr>
              <a:t>busted</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score_gap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45</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0.6</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ahead by 45+ — greed tax</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225588"/>
                </a:solidFill>
                <a:effectLst/>
                <a:latin typeface="Consolas" panose="020B0609020204030204" pitchFamily="49" charset="0"/>
              </a:rPr>
              <a:t>elif</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score_gap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&lt;=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20</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0.45</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ahead by 20-44</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else</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0.3</a:t>
            </a:r>
            <a:r>
              <a:rPr lang="en-US" b="0" dirty="0">
                <a:solidFill>
                  <a:srgbClr val="6688CC"/>
                </a:solidFill>
                <a:effectLst/>
                <a:latin typeface="Consolas" panose="020B0609020204030204" pitchFamily="49" charset="0"/>
              </a:rPr>
              <a:t>    </a:t>
            </a:r>
            <a:r>
              <a:rPr lang="en-US" b="0" dirty="0">
                <a:solidFill>
                  <a:srgbClr val="384887"/>
                </a:solidFill>
                <a:effectLst/>
                <a:latin typeface="Consolas" panose="020B0609020204030204" pitchFamily="49" charset="0"/>
              </a:rPr>
              <a:t># trailing or standard bust</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score_component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points_banked</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50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position_component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score_gap</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i="1" dirty="0" err="1">
                <a:solidFill>
                  <a:srgbClr val="2277FF"/>
                </a:solidFill>
                <a:effectLst/>
                <a:latin typeface="Consolas" panose="020B0609020204030204" pitchFamily="49" charset="0"/>
              </a:rPr>
              <a:t>win_threshold</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reward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0.6</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err="1">
                <a:solidFill>
                  <a:srgbClr val="6688CC"/>
                </a:solidFill>
                <a:effectLst/>
                <a:latin typeface="Consolas" panose="020B0609020204030204" pitchFamily="49" charset="0"/>
              </a:rPr>
              <a:t>score_component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0.4</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err="1">
                <a:solidFill>
                  <a:srgbClr val="6688CC"/>
                </a:solidFill>
                <a:effectLst/>
                <a:latin typeface="Consolas" panose="020B0609020204030204" pitchFamily="49" charset="0"/>
              </a:rPr>
              <a:t>position_component</a:t>
            </a:r>
            <a:r>
              <a:rPr lang="en-US" b="0" dirty="0">
                <a:solidFill>
                  <a:srgbClr val="6688CC"/>
                </a:solidFill>
                <a:effectLst/>
                <a:latin typeface="Consolas" panose="020B0609020204030204" pitchFamily="49" charset="0"/>
              </a:rPr>
              <a:t>)</a:t>
            </a: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return</a:t>
            </a:r>
            <a:r>
              <a:rPr lang="en-US" b="0" dirty="0">
                <a:solidFill>
                  <a:srgbClr val="6688CC"/>
                </a:solidFill>
                <a:effectLst/>
                <a:latin typeface="Consolas" panose="020B0609020204030204" pitchFamily="49" charset="0"/>
              </a:rPr>
              <a:t> </a:t>
            </a:r>
            <a:r>
              <a:rPr lang="en-US" b="0" dirty="0">
                <a:solidFill>
                  <a:srgbClr val="DDBB88"/>
                </a:solidFill>
                <a:effectLst/>
                <a:latin typeface="Consolas" panose="020B0609020204030204" pitchFamily="49" charset="0"/>
              </a:rPr>
              <a:t>min</a:t>
            </a:r>
            <a:r>
              <a:rPr lang="en-US" b="0" dirty="0">
                <a:solidFill>
                  <a:srgbClr val="6688CC"/>
                </a:solidFill>
                <a:effectLst/>
                <a:latin typeface="Consolas" panose="020B0609020204030204" pitchFamily="49" charset="0"/>
              </a:rPr>
              <a:t>(reward, </a:t>
            </a:r>
            <a:r>
              <a:rPr lang="en-US" b="0" dirty="0">
                <a:solidFill>
                  <a:srgbClr val="F280D0"/>
                </a:solidFill>
                <a:effectLst/>
                <a:latin typeface="Consolas" panose="020B0609020204030204" pitchFamily="49" charset="0"/>
              </a:rPr>
              <a:t>1.0</a:t>
            </a:r>
            <a:r>
              <a:rPr lang="en-US" b="0" dirty="0">
                <a:solidFill>
                  <a:srgbClr val="6688CC"/>
                </a:solidFill>
                <a:effectLst/>
                <a:latin typeface="Consolas" panose="020B0609020204030204" pitchFamily="49" charset="0"/>
              </a:rPr>
              <a:t>)</a:t>
            </a:r>
          </a:p>
        </p:txBody>
      </p:sp>
      <p:sp>
        <p:nvSpPr>
          <p:cNvPr id="16" name="Rectangle 15">
            <a:extLst>
              <a:ext uri="{FF2B5EF4-FFF2-40B4-BE49-F238E27FC236}">
                <a16:creationId xmlns:a16="http://schemas.microsoft.com/office/drawing/2014/main" id="{A56ABE08-E0C5-186E-C00D-A094095B3F25}"/>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8</a:t>
            </a:r>
          </a:p>
        </p:txBody>
      </p:sp>
      <p:sp>
        <p:nvSpPr>
          <p:cNvPr id="17" name="TextBox 16">
            <a:extLst>
              <a:ext uri="{FF2B5EF4-FFF2-40B4-BE49-F238E27FC236}">
                <a16:creationId xmlns:a16="http://schemas.microsoft.com/office/drawing/2014/main" id="{78E6974B-4566-2CDB-CDD6-F1FA61698E79}"/>
              </a:ext>
            </a:extLst>
          </p:cNvPr>
          <p:cNvSpPr txBox="1"/>
          <p:nvPr/>
        </p:nvSpPr>
        <p:spPr>
          <a:xfrm>
            <a:off x="6800193" y="6232634"/>
            <a:ext cx="4876800" cy="369332"/>
          </a:xfrm>
          <a:prstGeom prst="rect">
            <a:avLst/>
          </a:prstGeom>
          <a:noFill/>
        </p:spPr>
        <p:txBody>
          <a:bodyPr wrap="square" rtlCol="0">
            <a:spAutoFit/>
          </a:bodyPr>
          <a:lstStyle/>
          <a:p>
            <a:r>
              <a:rPr lang="en-US"/>
              <a:t>(Barros et al., arXiv, 2020)</a:t>
            </a:r>
            <a:endParaRPr lang="en-US" dirty="0"/>
          </a:p>
        </p:txBody>
      </p:sp>
    </p:spTree>
    <p:extLst>
      <p:ext uri="{BB962C8B-B14F-4D97-AF65-F5344CB8AC3E}">
        <p14:creationId xmlns:p14="http://schemas.microsoft.com/office/powerpoint/2010/main" val="4219282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E4BE-3DBF-E891-E5C2-A6E5D6CCA7BA}"/>
              </a:ext>
            </a:extLst>
          </p:cNvPr>
          <p:cNvSpPr>
            <a:spLocks noGrp="1"/>
          </p:cNvSpPr>
          <p:nvPr>
            <p:ph type="title"/>
          </p:nvPr>
        </p:nvSpPr>
        <p:spPr/>
        <p:txBody>
          <a:bodyPr/>
          <a:lstStyle/>
          <a:p>
            <a:r>
              <a:rPr lang="en-US" dirty="0"/>
              <a:t>Training Results</a:t>
            </a:r>
          </a:p>
        </p:txBody>
      </p:sp>
      <p:sp>
        <p:nvSpPr>
          <p:cNvPr id="5" name="Rectangle 4">
            <a:extLst>
              <a:ext uri="{FF2B5EF4-FFF2-40B4-BE49-F238E27FC236}">
                <a16:creationId xmlns:a16="http://schemas.microsoft.com/office/drawing/2014/main" id="{1C0A5351-BAF7-518B-4D90-9D70BF177EA5}"/>
              </a:ext>
            </a:extLst>
          </p:cNvPr>
          <p:cNvSpPr/>
          <p:nvPr/>
        </p:nvSpPr>
        <p:spPr>
          <a:xfrm>
            <a:off x="10549467" y="229653"/>
            <a:ext cx="438552" cy="923330"/>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9</a:t>
            </a:r>
          </a:p>
        </p:txBody>
      </p:sp>
      <p:pic>
        <p:nvPicPr>
          <p:cNvPr id="11" name="Picture 10">
            <a:extLst>
              <a:ext uri="{FF2B5EF4-FFF2-40B4-BE49-F238E27FC236}">
                <a16:creationId xmlns:a16="http://schemas.microsoft.com/office/drawing/2014/main" id="{63886857-281A-3164-5E34-33F825290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7117" y="1402605"/>
            <a:ext cx="6253346" cy="5002677"/>
          </a:xfrm>
          <a:prstGeom prst="rect">
            <a:avLst/>
          </a:prstGeom>
        </p:spPr>
      </p:pic>
      <p:sp>
        <p:nvSpPr>
          <p:cNvPr id="12" name="TextBox 11">
            <a:extLst>
              <a:ext uri="{FF2B5EF4-FFF2-40B4-BE49-F238E27FC236}">
                <a16:creationId xmlns:a16="http://schemas.microsoft.com/office/drawing/2014/main" id="{0AA28748-1128-074F-5845-AD03E57AC410}"/>
              </a:ext>
            </a:extLst>
          </p:cNvPr>
          <p:cNvSpPr txBox="1"/>
          <p:nvPr/>
        </p:nvSpPr>
        <p:spPr>
          <a:xfrm>
            <a:off x="851338" y="1933903"/>
            <a:ext cx="4267200" cy="2862322"/>
          </a:xfrm>
          <a:prstGeom prst="rect">
            <a:avLst/>
          </a:prstGeom>
          <a:noFill/>
        </p:spPr>
        <p:txBody>
          <a:bodyPr wrap="square" rtlCol="0">
            <a:spAutoFit/>
          </a:bodyPr>
          <a:lstStyle/>
          <a:p>
            <a:r>
              <a:rPr lang="en-US" dirty="0"/>
              <a:t>Main Takeaways:</a:t>
            </a:r>
          </a:p>
          <a:p>
            <a:endParaRPr lang="en-US" dirty="0"/>
          </a:p>
          <a:p>
            <a:r>
              <a:rPr lang="en-US" dirty="0"/>
              <a:t>- State coverage increased over 10,000 games</a:t>
            </a:r>
          </a:p>
          <a:p>
            <a:endParaRPr lang="en-US" dirty="0"/>
          </a:p>
          <a:p>
            <a:pPr marL="285750" indent="-285750">
              <a:buFontTx/>
              <a:buChar char="-"/>
            </a:pPr>
            <a:r>
              <a:rPr lang="en-US" dirty="0"/>
              <a:t>Win rate did not steadily improve, actively preformed worse</a:t>
            </a:r>
          </a:p>
          <a:p>
            <a:pPr marL="285750" indent="-285750">
              <a:buFontTx/>
              <a:buChar char="-"/>
            </a:pPr>
            <a:endParaRPr lang="en-US" dirty="0"/>
          </a:p>
          <a:p>
            <a:pPr marL="285750" indent="-285750">
              <a:buFontTx/>
              <a:buChar char="-"/>
            </a:pPr>
            <a:r>
              <a:rPr lang="en-US" dirty="0"/>
              <a:t>Exploration floor reached near 8,000. </a:t>
            </a:r>
          </a:p>
        </p:txBody>
      </p:sp>
    </p:spTree>
    <p:extLst>
      <p:ext uri="{BB962C8B-B14F-4D97-AF65-F5344CB8AC3E}">
        <p14:creationId xmlns:p14="http://schemas.microsoft.com/office/powerpoint/2010/main" val="3934437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E349C-7D04-2E77-30C0-6CC1A0EBA268}"/>
              </a:ext>
            </a:extLst>
          </p:cNvPr>
          <p:cNvSpPr>
            <a:spLocks noGrp="1"/>
          </p:cNvSpPr>
          <p:nvPr>
            <p:ph type="title"/>
          </p:nvPr>
        </p:nvSpPr>
        <p:spPr/>
        <p:txBody>
          <a:bodyPr/>
          <a:lstStyle/>
          <a:p>
            <a:r>
              <a:rPr lang="en-US" dirty="0"/>
              <a:t>Evaluation Results</a:t>
            </a:r>
          </a:p>
        </p:txBody>
      </p:sp>
      <p:graphicFrame>
        <p:nvGraphicFramePr>
          <p:cNvPr id="5" name="Content Placeholder 4">
            <a:extLst>
              <a:ext uri="{FF2B5EF4-FFF2-40B4-BE49-F238E27FC236}">
                <a16:creationId xmlns:a16="http://schemas.microsoft.com/office/drawing/2014/main" id="{F7CD8889-D0ED-29B5-39A1-D07A1C1092DA}"/>
              </a:ext>
            </a:extLst>
          </p:cNvPr>
          <p:cNvGraphicFramePr>
            <a:graphicFrameLocks noGrp="1"/>
          </p:cNvGraphicFramePr>
          <p:nvPr>
            <p:ph sz="half" idx="1"/>
            <p:extLst>
              <p:ext uri="{D42A27DB-BD31-4B8C-83A1-F6EECF244321}">
                <p14:modId xmlns:p14="http://schemas.microsoft.com/office/powerpoint/2010/main" val="2350444859"/>
              </p:ext>
            </p:extLst>
          </p:nvPr>
        </p:nvGraphicFramePr>
        <p:xfrm>
          <a:off x="146871" y="1243649"/>
          <a:ext cx="4299005" cy="3444230"/>
        </p:xfrm>
        <a:graphic>
          <a:graphicData uri="http://schemas.openxmlformats.org/drawingml/2006/table">
            <a:tbl>
              <a:tblPr firstRow="1" bandRow="1">
                <a:tableStyleId>{5C22544A-7EE6-4342-B048-85BDC9FD1C3A}</a:tableStyleId>
              </a:tblPr>
              <a:tblGrid>
                <a:gridCol w="1472927">
                  <a:extLst>
                    <a:ext uri="{9D8B030D-6E8A-4147-A177-3AD203B41FA5}">
                      <a16:colId xmlns:a16="http://schemas.microsoft.com/office/drawing/2014/main" val="692961961"/>
                    </a:ext>
                  </a:extLst>
                </a:gridCol>
                <a:gridCol w="949620">
                  <a:extLst>
                    <a:ext uri="{9D8B030D-6E8A-4147-A177-3AD203B41FA5}">
                      <a16:colId xmlns:a16="http://schemas.microsoft.com/office/drawing/2014/main" val="3935355578"/>
                    </a:ext>
                  </a:extLst>
                </a:gridCol>
                <a:gridCol w="1048093">
                  <a:extLst>
                    <a:ext uri="{9D8B030D-6E8A-4147-A177-3AD203B41FA5}">
                      <a16:colId xmlns:a16="http://schemas.microsoft.com/office/drawing/2014/main" val="4098009910"/>
                    </a:ext>
                  </a:extLst>
                </a:gridCol>
                <a:gridCol w="828365">
                  <a:extLst>
                    <a:ext uri="{9D8B030D-6E8A-4147-A177-3AD203B41FA5}">
                      <a16:colId xmlns:a16="http://schemas.microsoft.com/office/drawing/2014/main" val="3614168398"/>
                    </a:ext>
                  </a:extLst>
                </a:gridCol>
              </a:tblGrid>
              <a:tr h="914024">
                <a:tc>
                  <a:txBody>
                    <a:bodyPr/>
                    <a:lstStyle/>
                    <a:p>
                      <a:r>
                        <a:rPr lang="en-US" dirty="0"/>
                        <a:t>Agent</a:t>
                      </a:r>
                    </a:p>
                  </a:txBody>
                  <a:tcPr/>
                </a:tc>
                <a:tc>
                  <a:txBody>
                    <a:bodyPr/>
                    <a:lstStyle/>
                    <a:p>
                      <a:r>
                        <a:rPr lang="en-US" dirty="0"/>
                        <a:t>Win Rate</a:t>
                      </a:r>
                    </a:p>
                  </a:txBody>
                  <a:tcPr/>
                </a:tc>
                <a:tc>
                  <a:txBody>
                    <a:bodyPr/>
                    <a:lstStyle/>
                    <a:p>
                      <a:r>
                        <a:rPr lang="en-US" dirty="0"/>
                        <a:t>Avg Banked</a:t>
                      </a:r>
                    </a:p>
                  </a:txBody>
                  <a:tcPr/>
                </a:tc>
                <a:tc>
                  <a:txBody>
                    <a:bodyPr/>
                    <a:lstStyle/>
                    <a:p>
                      <a:r>
                        <a:rPr lang="en-US" dirty="0"/>
                        <a:t>Bust Rate</a:t>
                      </a:r>
                    </a:p>
                  </a:txBody>
                  <a:tcPr/>
                </a:tc>
                <a:extLst>
                  <a:ext uri="{0D108BD9-81ED-4DB2-BD59-A6C34878D82A}">
                    <a16:rowId xmlns:a16="http://schemas.microsoft.com/office/drawing/2014/main" val="3234771701"/>
                  </a:ext>
                </a:extLst>
              </a:tr>
              <a:tr h="630042">
                <a:tc>
                  <a:txBody>
                    <a:bodyPr/>
                    <a:lstStyle/>
                    <a:p>
                      <a:r>
                        <a:rPr lang="en-US" dirty="0"/>
                        <a:t>RL Agent</a:t>
                      </a:r>
                    </a:p>
                  </a:txBody>
                  <a:tcPr/>
                </a:tc>
                <a:tc>
                  <a:txBody>
                    <a:bodyPr/>
                    <a:lstStyle/>
                    <a:p>
                      <a:r>
                        <a:rPr lang="en-US" b="1" u="sng" dirty="0">
                          <a:solidFill>
                            <a:srgbClr val="FF0000"/>
                          </a:solidFill>
                        </a:rPr>
                        <a:t>0.153</a:t>
                      </a:r>
                    </a:p>
                  </a:txBody>
                  <a:tcPr/>
                </a:tc>
                <a:tc>
                  <a:txBody>
                    <a:bodyPr/>
                    <a:lstStyle/>
                    <a:p>
                      <a:r>
                        <a:rPr lang="en-US" dirty="0"/>
                        <a:t>18.4</a:t>
                      </a:r>
                    </a:p>
                  </a:txBody>
                  <a:tcPr/>
                </a:tc>
                <a:tc>
                  <a:txBody>
                    <a:bodyPr/>
                    <a:lstStyle/>
                    <a:p>
                      <a:r>
                        <a:rPr lang="en-US" b="1" u="sng" dirty="0"/>
                        <a:t>0.110</a:t>
                      </a:r>
                    </a:p>
                  </a:txBody>
                  <a:tcPr/>
                </a:tc>
                <a:extLst>
                  <a:ext uri="{0D108BD9-81ED-4DB2-BD59-A6C34878D82A}">
                    <a16:rowId xmlns:a16="http://schemas.microsoft.com/office/drawing/2014/main" val="118555726"/>
                  </a:ext>
                </a:extLst>
              </a:tr>
              <a:tr h="639817">
                <a:tc>
                  <a:txBody>
                    <a:bodyPr/>
                    <a:lstStyle/>
                    <a:p>
                      <a:r>
                        <a:rPr lang="en-US" dirty="0"/>
                        <a:t>Conservative</a:t>
                      </a:r>
                    </a:p>
                  </a:txBody>
                  <a:tcPr/>
                </a:tc>
                <a:tc>
                  <a:txBody>
                    <a:bodyPr/>
                    <a:lstStyle/>
                    <a:p>
                      <a:r>
                        <a:rPr lang="en-US" dirty="0"/>
                        <a:t>0.266</a:t>
                      </a:r>
                    </a:p>
                  </a:txBody>
                  <a:tcPr/>
                </a:tc>
                <a:tc>
                  <a:txBody>
                    <a:bodyPr/>
                    <a:lstStyle/>
                    <a:p>
                      <a:r>
                        <a:rPr lang="en-US" dirty="0"/>
                        <a:t>21.6</a:t>
                      </a:r>
                    </a:p>
                  </a:txBody>
                  <a:tcPr/>
                </a:tc>
                <a:tc>
                  <a:txBody>
                    <a:bodyPr/>
                    <a:lstStyle/>
                    <a:p>
                      <a:r>
                        <a:rPr lang="en-US" dirty="0"/>
                        <a:t>0.047</a:t>
                      </a:r>
                    </a:p>
                  </a:txBody>
                  <a:tcPr/>
                </a:tc>
                <a:extLst>
                  <a:ext uri="{0D108BD9-81ED-4DB2-BD59-A6C34878D82A}">
                    <a16:rowId xmlns:a16="http://schemas.microsoft.com/office/drawing/2014/main" val="2948006277"/>
                  </a:ext>
                </a:extLst>
              </a:tr>
              <a:tr h="630042">
                <a:tc>
                  <a:txBody>
                    <a:bodyPr/>
                    <a:lstStyle/>
                    <a:p>
                      <a:r>
                        <a:rPr lang="en-US" dirty="0"/>
                        <a:t>Greedy</a:t>
                      </a:r>
                    </a:p>
                  </a:txBody>
                  <a:tcPr/>
                </a:tc>
                <a:tc>
                  <a:txBody>
                    <a:bodyPr/>
                    <a:lstStyle/>
                    <a:p>
                      <a:r>
                        <a:rPr lang="en-US" b="1" u="sng" dirty="0">
                          <a:solidFill>
                            <a:srgbClr val="00B050"/>
                          </a:solidFill>
                        </a:rPr>
                        <a:t>0.327</a:t>
                      </a:r>
                    </a:p>
                  </a:txBody>
                  <a:tcPr/>
                </a:tc>
                <a:tc>
                  <a:txBody>
                    <a:bodyPr/>
                    <a:lstStyle/>
                    <a:p>
                      <a:r>
                        <a:rPr lang="en-US" dirty="0"/>
                        <a:t>33.3</a:t>
                      </a:r>
                    </a:p>
                  </a:txBody>
                  <a:tcPr/>
                </a:tc>
                <a:tc>
                  <a:txBody>
                    <a:bodyPr/>
                    <a:lstStyle/>
                    <a:p>
                      <a:r>
                        <a:rPr lang="en-US" dirty="0"/>
                        <a:t>0.091</a:t>
                      </a:r>
                    </a:p>
                  </a:txBody>
                  <a:tcPr/>
                </a:tc>
                <a:extLst>
                  <a:ext uri="{0D108BD9-81ED-4DB2-BD59-A6C34878D82A}">
                    <a16:rowId xmlns:a16="http://schemas.microsoft.com/office/drawing/2014/main" val="859867038"/>
                  </a:ext>
                </a:extLst>
              </a:tr>
              <a:tr h="630042">
                <a:tc>
                  <a:txBody>
                    <a:bodyPr/>
                    <a:lstStyle/>
                    <a:p>
                      <a:r>
                        <a:rPr lang="en-US" dirty="0"/>
                        <a:t>Balanced</a:t>
                      </a:r>
                    </a:p>
                  </a:txBody>
                  <a:tcPr/>
                </a:tc>
                <a:tc>
                  <a:txBody>
                    <a:bodyPr/>
                    <a:lstStyle/>
                    <a:p>
                      <a:r>
                        <a:rPr lang="en-US" dirty="0"/>
                        <a:t>0.254</a:t>
                      </a:r>
                    </a:p>
                  </a:txBody>
                  <a:tcPr/>
                </a:tc>
                <a:tc>
                  <a:txBody>
                    <a:bodyPr/>
                    <a:lstStyle/>
                    <a:p>
                      <a:r>
                        <a:rPr lang="en-US" dirty="0"/>
                        <a:t>29.9</a:t>
                      </a:r>
                    </a:p>
                  </a:txBody>
                  <a:tcPr/>
                </a:tc>
                <a:tc>
                  <a:txBody>
                    <a:bodyPr/>
                    <a:lstStyle/>
                    <a:p>
                      <a:r>
                        <a:rPr lang="en-US" dirty="0"/>
                        <a:t>0.077</a:t>
                      </a:r>
                    </a:p>
                  </a:txBody>
                  <a:tcPr/>
                </a:tc>
                <a:extLst>
                  <a:ext uri="{0D108BD9-81ED-4DB2-BD59-A6C34878D82A}">
                    <a16:rowId xmlns:a16="http://schemas.microsoft.com/office/drawing/2014/main" val="1439497783"/>
                  </a:ext>
                </a:extLst>
              </a:tr>
            </a:tbl>
          </a:graphicData>
        </a:graphic>
      </p:graphicFrame>
      <p:pic>
        <p:nvPicPr>
          <p:cNvPr id="7" name="Picture 6">
            <a:extLst>
              <a:ext uri="{FF2B5EF4-FFF2-40B4-BE49-F238E27FC236}">
                <a16:creationId xmlns:a16="http://schemas.microsoft.com/office/drawing/2014/main" id="{5B12E6B7-CF84-1A30-26A5-8DAFC04E2D27}"/>
              </a:ext>
            </a:extLst>
          </p:cNvPr>
          <p:cNvPicPr preferRelativeResize="0">
            <a:picLocks/>
          </p:cNvPicPr>
          <p:nvPr/>
        </p:nvPicPr>
        <p:blipFill>
          <a:blip r:embed="rId3">
            <a:extLst>
              <a:ext uri="{28A0092B-C50C-407E-A947-70E740481C1C}">
                <a14:useLocalDpi xmlns:a14="http://schemas.microsoft.com/office/drawing/2010/main" val="0"/>
              </a:ext>
            </a:extLst>
          </a:blip>
          <a:srcRect l="168" t="749" r="5714" b="749"/>
          <a:stretch>
            <a:fillRect/>
          </a:stretch>
        </p:blipFill>
        <p:spPr>
          <a:xfrm>
            <a:off x="4445876" y="2200880"/>
            <a:ext cx="7746124" cy="4204402"/>
          </a:xfrm>
          <a:prstGeom prst="rect">
            <a:avLst/>
          </a:prstGeom>
        </p:spPr>
      </p:pic>
      <p:sp>
        <p:nvSpPr>
          <p:cNvPr id="8" name="Rectangle 7">
            <a:extLst>
              <a:ext uri="{FF2B5EF4-FFF2-40B4-BE49-F238E27FC236}">
                <a16:creationId xmlns:a16="http://schemas.microsoft.com/office/drawing/2014/main" id="{54CFCAA1-4E86-F830-4537-351FAD815130}"/>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10</a:t>
            </a:r>
          </a:p>
        </p:txBody>
      </p:sp>
    </p:spTree>
    <p:extLst>
      <p:ext uri="{BB962C8B-B14F-4D97-AF65-F5344CB8AC3E}">
        <p14:creationId xmlns:p14="http://schemas.microsoft.com/office/powerpoint/2010/main" val="1681895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C7030-4D42-E1A7-6B48-DA81B8AD719C}"/>
              </a:ext>
            </a:extLst>
          </p:cNvPr>
          <p:cNvSpPr>
            <a:spLocks noGrp="1"/>
          </p:cNvSpPr>
          <p:nvPr>
            <p:ph type="title"/>
          </p:nvPr>
        </p:nvSpPr>
        <p:spPr/>
        <p:txBody>
          <a:bodyPr/>
          <a:lstStyle/>
          <a:p>
            <a:r>
              <a:rPr lang="en-US" dirty="0"/>
              <a:t>Statistical Evaluation</a:t>
            </a:r>
          </a:p>
        </p:txBody>
      </p:sp>
      <p:sp>
        <p:nvSpPr>
          <p:cNvPr id="5" name="TextBox 4">
            <a:extLst>
              <a:ext uri="{FF2B5EF4-FFF2-40B4-BE49-F238E27FC236}">
                <a16:creationId xmlns:a16="http://schemas.microsoft.com/office/drawing/2014/main" id="{AE38D956-72C1-4602-CBD2-342C4A781FC5}"/>
              </a:ext>
            </a:extLst>
          </p:cNvPr>
          <p:cNvSpPr txBox="1"/>
          <p:nvPr/>
        </p:nvSpPr>
        <p:spPr>
          <a:xfrm>
            <a:off x="0" y="1145628"/>
            <a:ext cx="8502869" cy="3877087"/>
          </a:xfrm>
          <a:prstGeom prst="rect">
            <a:avLst/>
          </a:prstGeom>
          <a:solidFill>
            <a:schemeClr val="bg1"/>
          </a:solidFill>
        </p:spPr>
        <p:txBody>
          <a:bodyPr wrap="square" rtlCol="0">
            <a:spAutoFit/>
          </a:bodyPr>
          <a:lstStyle/>
          <a:p>
            <a:pPr>
              <a:lnSpc>
                <a:spcPts val="1425"/>
              </a:lnSpc>
              <a:buNone/>
            </a:pPr>
            <a:r>
              <a:rPr lang="en-US" b="0" dirty="0">
                <a:solidFill>
                  <a:srgbClr val="6688CC"/>
                </a:solidFill>
                <a:effectLst/>
                <a:latin typeface="Consolas" panose="020B0609020204030204" pitchFamily="49" charset="0"/>
              </a:rPr>
              <a:t>Detailed Baseline Results over </a:t>
            </a:r>
            <a:r>
              <a:rPr lang="en-US" b="0" dirty="0">
                <a:solidFill>
                  <a:srgbClr val="F280D0"/>
                </a:solidFill>
                <a:effectLst/>
                <a:latin typeface="Consolas" panose="020B0609020204030204" pitchFamily="49" charset="0"/>
              </a:rPr>
              <a:t>5000</a:t>
            </a:r>
            <a:r>
              <a:rPr lang="en-US" b="0" dirty="0">
                <a:solidFill>
                  <a:srgbClr val="6688CC"/>
                </a:solidFill>
                <a:effectLst/>
                <a:latin typeface="Consolas" panose="020B0609020204030204" pitchFamily="49" charset="0"/>
              </a:rPr>
              <a:t> games:</a:t>
            </a:r>
          </a:p>
          <a:p>
            <a:pPr>
              <a:lnSpc>
                <a:spcPts val="1425"/>
              </a:lnSpc>
              <a:buNone/>
            </a:pPr>
            <a:r>
              <a:rPr lang="en-US" b="0" dirty="0">
                <a:solidFill>
                  <a:srgbClr val="6688CC"/>
                </a:solidFill>
                <a:effectLst/>
                <a:latin typeface="Consolas" panose="020B0609020204030204" pitchFamily="49" charset="0"/>
              </a:rPr>
              <a:t>Metric                    Conservative       Greedy     Balanced</a:t>
            </a:r>
          </a:p>
          <a:p>
            <a:pPr>
              <a:lnSpc>
                <a:spcPts val="1425"/>
              </a:lnSpc>
              <a:buNone/>
            </a:pPr>
            <a:r>
              <a:rPr lang="en-US" b="0" dirty="0">
                <a:solidFill>
                  <a:srgbClr val="A22D44"/>
                </a:solidFill>
                <a:effectLst/>
                <a:latin typeface="Consolas" panose="020B0609020204030204" pitchFamily="49" charset="0"/>
              </a:rPr>
              <a:t>--------------------------------------------------------------</a:t>
            </a:r>
            <a:r>
              <a:rPr lang="en-US" b="0" dirty="0">
                <a:solidFill>
                  <a:srgbClr val="225588"/>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wins                               </a:t>
            </a:r>
            <a:r>
              <a:rPr lang="en-US" b="0" dirty="0">
                <a:solidFill>
                  <a:srgbClr val="F280D0"/>
                </a:solidFill>
                <a:effectLst/>
                <a:latin typeface="Consolas" panose="020B0609020204030204" pitchFamily="49" charset="0"/>
              </a:rPr>
              <a:t>810</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1297</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1105</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busts                             </a:t>
            </a:r>
            <a:r>
              <a:rPr lang="en-US" b="0" dirty="0">
                <a:solidFill>
                  <a:srgbClr val="F280D0"/>
                </a:solidFill>
                <a:effectLst/>
                <a:latin typeface="Consolas" panose="020B0609020204030204" pitchFamily="49" charset="0"/>
              </a:rPr>
              <a:t>7019</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17105</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13708</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stops                            </a:t>
            </a:r>
            <a:r>
              <a:rPr lang="en-US" b="0" dirty="0">
                <a:solidFill>
                  <a:srgbClr val="F280D0"/>
                </a:solidFill>
                <a:effectLst/>
                <a:latin typeface="Consolas" panose="020B0609020204030204" pitchFamily="49" charset="0"/>
              </a:rPr>
              <a:t>33402</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22442</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25720</a:t>
            </a:r>
            <a:endParaRPr lang="en-US" b="0" dirty="0">
              <a:solidFill>
                <a:srgbClr val="6688CC"/>
              </a:solidFill>
              <a:effectLst/>
              <a:latin typeface="Consolas" panose="020B0609020204030204" pitchFamily="49" charset="0"/>
            </a:endParaRPr>
          </a:p>
          <a:p>
            <a:pPr>
              <a:lnSpc>
                <a:spcPts val="1425"/>
              </a:lnSpc>
              <a:buNone/>
            </a:pPr>
            <a:r>
              <a:rPr lang="en-US" b="0" dirty="0" err="1">
                <a:solidFill>
                  <a:srgbClr val="6688CC"/>
                </a:solidFill>
                <a:effectLst/>
                <a:latin typeface="Consolas" panose="020B0609020204030204" pitchFamily="49" charset="0"/>
              </a:rPr>
              <a:t>total_banked</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721419</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746504</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767765</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r>
              <a:rPr lang="en-US" b="0" dirty="0">
                <a:solidFill>
                  <a:srgbClr val="A22D44"/>
                </a:solidFill>
                <a:effectLst/>
                <a:latin typeface="Consolas" panose="020B0609020204030204" pitchFamily="49" charset="0"/>
              </a:rPr>
              <a:t>--------------------------------------------------------------</a:t>
            </a:r>
            <a:r>
              <a:rPr lang="en-US" b="0" dirty="0">
                <a:solidFill>
                  <a:srgbClr val="225588"/>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Avg banked:  </a:t>
            </a:r>
            <a:r>
              <a:rPr lang="en-US" b="0" dirty="0">
                <a:solidFill>
                  <a:srgbClr val="F280D0"/>
                </a:solidFill>
                <a:effectLst/>
                <a:latin typeface="Consolas" panose="020B0609020204030204" pitchFamily="49" charset="0"/>
              </a:rPr>
              <a:t>29.8</a:t>
            </a:r>
            <a:r>
              <a:rPr lang="en-US" b="0" dirty="0">
                <a:solidFill>
                  <a:srgbClr val="6688CC"/>
                </a:solidFill>
                <a:effectLst/>
                <a:latin typeface="Consolas" panose="020B0609020204030204" pitchFamily="49" charset="0"/>
              </a:rPr>
              <a:t> Bust rate: </a:t>
            </a:r>
            <a:r>
              <a:rPr lang="en-US" b="0" dirty="0">
                <a:solidFill>
                  <a:srgbClr val="F280D0"/>
                </a:solidFill>
                <a:effectLst/>
                <a:latin typeface="Consolas" panose="020B0609020204030204" pitchFamily="49" charset="0"/>
              </a:rPr>
              <a:t>0.077</a:t>
            </a:r>
            <a:r>
              <a:rPr lang="en-US" b="0" dirty="0">
                <a:solidFill>
                  <a:srgbClr val="6688CC"/>
                </a:solidFill>
                <a:effectLst/>
                <a:latin typeface="Consolas" panose="020B0609020204030204" pitchFamily="49" charset="0"/>
              </a:rPr>
              <a:t> Stop rate: </a:t>
            </a:r>
            <a:r>
              <a:rPr lang="en-US" b="0" dirty="0">
                <a:solidFill>
                  <a:srgbClr val="F280D0"/>
                </a:solidFill>
                <a:effectLst/>
                <a:latin typeface="Consolas" panose="020B0609020204030204" pitchFamily="49" charset="0"/>
              </a:rPr>
              <a:t>0.144</a:t>
            </a:r>
            <a:r>
              <a:rPr lang="en-US" b="0" dirty="0">
                <a:solidFill>
                  <a:srgbClr val="6688CC"/>
                </a:solidFill>
                <a:effectLst/>
                <a:latin typeface="Consolas" panose="020B0609020204030204" pitchFamily="49" charset="0"/>
              </a:rPr>
              <a:t> — Balanced_2</a:t>
            </a:r>
          </a:p>
          <a:p>
            <a:pPr>
              <a:lnSpc>
                <a:spcPts val="1425"/>
              </a:lnSpc>
              <a:buNone/>
            </a:pPr>
            <a:r>
              <a:rPr lang="en-US" b="0" dirty="0">
                <a:solidFill>
                  <a:srgbClr val="6688CC"/>
                </a:solidFill>
                <a:effectLst/>
                <a:latin typeface="Consolas" panose="020B0609020204030204" pitchFamily="49" charset="0"/>
              </a:rPr>
              <a:t>Avg banked:  </a:t>
            </a:r>
            <a:r>
              <a:rPr lang="en-US" b="0" dirty="0">
                <a:solidFill>
                  <a:srgbClr val="F280D0"/>
                </a:solidFill>
                <a:effectLst/>
                <a:latin typeface="Consolas" panose="020B0609020204030204" pitchFamily="49" charset="0"/>
              </a:rPr>
              <a:t>21.6</a:t>
            </a:r>
            <a:r>
              <a:rPr lang="en-US" b="0" dirty="0">
                <a:solidFill>
                  <a:srgbClr val="6688CC"/>
                </a:solidFill>
                <a:effectLst/>
                <a:latin typeface="Consolas" panose="020B0609020204030204" pitchFamily="49" charset="0"/>
              </a:rPr>
              <a:t> Bust rate: </a:t>
            </a:r>
            <a:r>
              <a:rPr lang="en-US" b="0" dirty="0">
                <a:solidFill>
                  <a:srgbClr val="F280D0"/>
                </a:solidFill>
                <a:effectLst/>
                <a:latin typeface="Consolas" panose="020B0609020204030204" pitchFamily="49" charset="0"/>
              </a:rPr>
              <a:t>0.047</a:t>
            </a:r>
            <a:r>
              <a:rPr lang="en-US" b="0" dirty="0">
                <a:solidFill>
                  <a:srgbClr val="6688CC"/>
                </a:solidFill>
                <a:effectLst/>
                <a:latin typeface="Consolas" panose="020B0609020204030204" pitchFamily="49" charset="0"/>
              </a:rPr>
              <a:t> Stop rate: </a:t>
            </a:r>
            <a:r>
              <a:rPr lang="en-US" b="0" dirty="0">
                <a:solidFill>
                  <a:srgbClr val="F280D0"/>
                </a:solidFill>
                <a:effectLst/>
                <a:latin typeface="Consolas" panose="020B0609020204030204" pitchFamily="49" charset="0"/>
              </a:rPr>
              <a:t>0.223</a:t>
            </a:r>
            <a:r>
              <a:rPr lang="en-US" b="0" dirty="0">
                <a:solidFill>
                  <a:srgbClr val="6688CC"/>
                </a:solidFill>
                <a:effectLst/>
                <a:latin typeface="Consolas" panose="020B0609020204030204" pitchFamily="49" charset="0"/>
              </a:rPr>
              <a:t> — Conservative</a:t>
            </a:r>
          </a:p>
          <a:p>
            <a:pPr>
              <a:lnSpc>
                <a:spcPts val="1425"/>
              </a:lnSpc>
              <a:buNone/>
            </a:pPr>
            <a:r>
              <a:rPr lang="en-US" b="0" dirty="0">
                <a:solidFill>
                  <a:srgbClr val="6688CC"/>
                </a:solidFill>
                <a:effectLst/>
                <a:latin typeface="Consolas" panose="020B0609020204030204" pitchFamily="49" charset="0"/>
              </a:rPr>
              <a:t>Avg banked:  </a:t>
            </a:r>
            <a:r>
              <a:rPr lang="en-US" b="0" dirty="0">
                <a:solidFill>
                  <a:srgbClr val="F280D0"/>
                </a:solidFill>
                <a:effectLst/>
                <a:latin typeface="Consolas" panose="020B0609020204030204" pitchFamily="49" charset="0"/>
              </a:rPr>
              <a:t>33.3</a:t>
            </a:r>
            <a:r>
              <a:rPr lang="en-US" b="0" dirty="0">
                <a:solidFill>
                  <a:srgbClr val="6688CC"/>
                </a:solidFill>
                <a:effectLst/>
                <a:latin typeface="Consolas" panose="020B0609020204030204" pitchFamily="49" charset="0"/>
              </a:rPr>
              <a:t> Bust rate: </a:t>
            </a:r>
            <a:r>
              <a:rPr lang="en-US" b="0" dirty="0">
                <a:solidFill>
                  <a:srgbClr val="F280D0"/>
                </a:solidFill>
                <a:effectLst/>
                <a:latin typeface="Consolas" panose="020B0609020204030204" pitchFamily="49" charset="0"/>
              </a:rPr>
              <a:t>0.091</a:t>
            </a:r>
            <a:r>
              <a:rPr lang="en-US" b="0" dirty="0">
                <a:solidFill>
                  <a:srgbClr val="6688CC"/>
                </a:solidFill>
                <a:effectLst/>
                <a:latin typeface="Consolas" panose="020B0609020204030204" pitchFamily="49" charset="0"/>
              </a:rPr>
              <a:t> Stop rate: </a:t>
            </a:r>
            <a:r>
              <a:rPr lang="en-US" b="0" dirty="0">
                <a:solidFill>
                  <a:srgbClr val="F280D0"/>
                </a:solidFill>
                <a:effectLst/>
                <a:latin typeface="Consolas" panose="020B0609020204030204" pitchFamily="49" charset="0"/>
              </a:rPr>
              <a:t>0.119</a:t>
            </a:r>
            <a:r>
              <a:rPr lang="en-US" b="0" dirty="0">
                <a:solidFill>
                  <a:srgbClr val="6688CC"/>
                </a:solidFill>
                <a:effectLst/>
                <a:latin typeface="Consolas" panose="020B0609020204030204" pitchFamily="49" charset="0"/>
              </a:rPr>
              <a:t> — Greedy</a:t>
            </a:r>
          </a:p>
          <a:p>
            <a:pPr>
              <a:lnSpc>
                <a:spcPts val="1425"/>
              </a:lnSpc>
              <a:buNone/>
            </a:pPr>
            <a:r>
              <a:rPr lang="en-US" b="0" dirty="0">
                <a:solidFill>
                  <a:srgbClr val="6688CC"/>
                </a:solidFill>
                <a:effectLst/>
                <a:latin typeface="Consolas" panose="020B0609020204030204" pitchFamily="49" charset="0"/>
              </a:rPr>
              <a:t>Avg banked:  </a:t>
            </a:r>
            <a:r>
              <a:rPr lang="en-US" b="0" dirty="0">
                <a:solidFill>
                  <a:srgbClr val="F280D0"/>
                </a:solidFill>
                <a:effectLst/>
                <a:latin typeface="Consolas" panose="020B0609020204030204" pitchFamily="49" charset="0"/>
              </a:rPr>
              <a:t>29.9</a:t>
            </a:r>
            <a:r>
              <a:rPr lang="en-US" b="0" dirty="0">
                <a:solidFill>
                  <a:srgbClr val="6688CC"/>
                </a:solidFill>
                <a:effectLst/>
                <a:latin typeface="Consolas" panose="020B0609020204030204" pitchFamily="49" charset="0"/>
              </a:rPr>
              <a:t> Bust rate: </a:t>
            </a:r>
            <a:r>
              <a:rPr lang="en-US" b="0" dirty="0">
                <a:solidFill>
                  <a:srgbClr val="F280D0"/>
                </a:solidFill>
                <a:effectLst/>
                <a:latin typeface="Consolas" panose="020B0609020204030204" pitchFamily="49" charset="0"/>
              </a:rPr>
              <a:t>0.077</a:t>
            </a:r>
            <a:r>
              <a:rPr lang="en-US" b="0" dirty="0">
                <a:solidFill>
                  <a:srgbClr val="6688CC"/>
                </a:solidFill>
                <a:effectLst/>
                <a:latin typeface="Consolas" panose="020B0609020204030204" pitchFamily="49" charset="0"/>
              </a:rPr>
              <a:t> Stop rate: </a:t>
            </a:r>
            <a:r>
              <a:rPr lang="en-US" b="0" dirty="0">
                <a:solidFill>
                  <a:srgbClr val="F280D0"/>
                </a:solidFill>
                <a:effectLst/>
                <a:latin typeface="Consolas" panose="020B0609020204030204" pitchFamily="49" charset="0"/>
              </a:rPr>
              <a:t>0.144</a:t>
            </a:r>
            <a:r>
              <a:rPr lang="en-US" b="0" dirty="0">
                <a:solidFill>
                  <a:srgbClr val="6688CC"/>
                </a:solidFill>
                <a:effectLst/>
                <a:latin typeface="Consolas" panose="020B0609020204030204" pitchFamily="49" charset="0"/>
              </a:rPr>
              <a:t> — Balanced</a:t>
            </a: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Heuristic Baseline Results over </a:t>
            </a:r>
            <a:r>
              <a:rPr lang="en-US" b="0" dirty="0">
                <a:solidFill>
                  <a:srgbClr val="F280D0"/>
                </a:solidFill>
                <a:effectLst/>
                <a:latin typeface="Consolas" panose="020B0609020204030204" pitchFamily="49" charset="0"/>
              </a:rPr>
              <a:t>5000</a:t>
            </a:r>
            <a:r>
              <a:rPr lang="en-US" b="0" dirty="0">
                <a:solidFill>
                  <a:srgbClr val="6688CC"/>
                </a:solidFill>
                <a:effectLst/>
                <a:latin typeface="Consolas" panose="020B0609020204030204" pitchFamily="49" charset="0"/>
              </a:rPr>
              <a:t> games </a:t>
            </a:r>
          </a:p>
          <a:p>
            <a:pPr>
              <a:lnSpc>
                <a:spcPts val="1425"/>
              </a:lnSpc>
              <a:buNone/>
            </a:pPr>
            <a:r>
              <a:rPr lang="en-US" b="0" dirty="0">
                <a:solidFill>
                  <a:srgbClr val="6688CC"/>
                </a:solidFill>
                <a:effectLst/>
                <a:latin typeface="Consolas" panose="020B0609020204030204" pitchFamily="49" charset="0"/>
              </a:rPr>
              <a:t>(</a:t>
            </a:r>
            <a:r>
              <a:rPr lang="en-US" b="0" dirty="0">
                <a:solidFill>
                  <a:srgbClr val="F280D0"/>
                </a:solidFill>
                <a:effectLst/>
                <a:latin typeface="Consolas" panose="020B0609020204030204" pitchFamily="49" charset="0"/>
              </a:rPr>
              <a:t>4</a:t>
            </a:r>
            <a:r>
              <a:rPr lang="en-US" b="0" dirty="0">
                <a:solidFill>
                  <a:srgbClr val="6688CC"/>
                </a:solidFill>
                <a:effectLst/>
                <a:latin typeface="Consolas" panose="020B0609020204030204" pitchFamily="49" charset="0"/>
              </a:rPr>
              <a:t> players):</a:t>
            </a:r>
          </a:p>
          <a:p>
            <a:pPr>
              <a:lnSpc>
                <a:spcPts val="1425"/>
              </a:lnSpc>
              <a:buNone/>
            </a:pPr>
            <a:r>
              <a:rPr lang="en-US" b="0" dirty="0">
                <a:solidFill>
                  <a:srgbClr val="6688CC"/>
                </a:solidFill>
                <a:effectLst/>
                <a:latin typeface="Consolas" panose="020B0609020204030204" pitchFamily="49" charset="0"/>
              </a:rPr>
              <a:t>  Balanced_2      </a:t>
            </a:r>
            <a:r>
              <a:rPr lang="en-US" b="0" dirty="0">
                <a:solidFill>
                  <a:srgbClr val="F280D0"/>
                </a:solidFill>
                <a:effectLst/>
                <a:latin typeface="Consolas" panose="020B0609020204030204" pitchFamily="49" charset="0"/>
              </a:rPr>
              <a:t>0.358</a:t>
            </a:r>
            <a:r>
              <a:rPr lang="en-US" b="0" dirty="0">
                <a:solidFill>
                  <a:srgbClr val="6688CC"/>
                </a:solidFill>
                <a:effectLst/>
                <a:latin typeface="Consolas" panose="020B0609020204030204" pitchFamily="49" charset="0"/>
              </a:rPr>
              <a:t> win rate</a:t>
            </a:r>
          </a:p>
          <a:p>
            <a:pPr>
              <a:lnSpc>
                <a:spcPts val="1425"/>
              </a:lnSpc>
              <a:buNone/>
            </a:pPr>
            <a:r>
              <a:rPr lang="en-US" b="0" dirty="0">
                <a:solidFill>
                  <a:srgbClr val="6688CC"/>
                </a:solidFill>
                <a:effectLst/>
                <a:latin typeface="Consolas" panose="020B0609020204030204" pitchFamily="49" charset="0"/>
              </a:rPr>
              <a:t>  Conservative    </a:t>
            </a:r>
            <a:r>
              <a:rPr lang="en-US" b="0" dirty="0">
                <a:solidFill>
                  <a:srgbClr val="F280D0"/>
                </a:solidFill>
                <a:effectLst/>
                <a:latin typeface="Consolas" panose="020B0609020204030204" pitchFamily="49" charset="0"/>
              </a:rPr>
              <a:t>0.149</a:t>
            </a:r>
            <a:r>
              <a:rPr lang="en-US" b="0" dirty="0">
                <a:solidFill>
                  <a:srgbClr val="6688CC"/>
                </a:solidFill>
                <a:effectLst/>
                <a:latin typeface="Consolas" panose="020B0609020204030204" pitchFamily="49" charset="0"/>
              </a:rPr>
              <a:t> win rate</a:t>
            </a:r>
          </a:p>
          <a:p>
            <a:pPr>
              <a:lnSpc>
                <a:spcPts val="1425"/>
              </a:lnSpc>
              <a:buNone/>
            </a:pPr>
            <a:r>
              <a:rPr lang="en-US" b="0" dirty="0">
                <a:solidFill>
                  <a:srgbClr val="6688CC"/>
                </a:solidFill>
                <a:effectLst/>
                <a:latin typeface="Consolas" panose="020B0609020204030204" pitchFamily="49" charset="0"/>
              </a:rPr>
              <a:t>  Greedy          </a:t>
            </a:r>
            <a:r>
              <a:rPr lang="en-US" b="0" dirty="0">
                <a:solidFill>
                  <a:srgbClr val="F280D0"/>
                </a:solidFill>
                <a:effectLst/>
                <a:latin typeface="Consolas" panose="020B0609020204030204" pitchFamily="49" charset="0"/>
              </a:rPr>
              <a:t>0.262</a:t>
            </a:r>
            <a:r>
              <a:rPr lang="en-US" b="0" dirty="0">
                <a:solidFill>
                  <a:srgbClr val="6688CC"/>
                </a:solidFill>
                <a:effectLst/>
                <a:latin typeface="Consolas" panose="020B0609020204030204" pitchFamily="49" charset="0"/>
              </a:rPr>
              <a:t> win rate</a:t>
            </a:r>
          </a:p>
          <a:p>
            <a:pPr>
              <a:lnSpc>
                <a:spcPts val="1425"/>
              </a:lnSpc>
              <a:buNone/>
            </a:pPr>
            <a:r>
              <a:rPr lang="en-US" b="0" dirty="0">
                <a:solidFill>
                  <a:srgbClr val="6688CC"/>
                </a:solidFill>
                <a:effectLst/>
                <a:latin typeface="Consolas" panose="020B0609020204030204" pitchFamily="49" charset="0"/>
              </a:rPr>
              <a:t>  Balanced        </a:t>
            </a:r>
            <a:r>
              <a:rPr lang="en-US" b="0" dirty="0">
                <a:solidFill>
                  <a:srgbClr val="F280D0"/>
                </a:solidFill>
                <a:effectLst/>
                <a:latin typeface="Consolas" panose="020B0609020204030204" pitchFamily="49" charset="0"/>
              </a:rPr>
              <a:t>0.231</a:t>
            </a:r>
            <a:r>
              <a:rPr lang="en-US" b="0" dirty="0">
                <a:solidFill>
                  <a:srgbClr val="6688CC"/>
                </a:solidFill>
                <a:effectLst/>
                <a:latin typeface="Consolas" panose="020B0609020204030204" pitchFamily="49" charset="0"/>
              </a:rPr>
              <a:t> win rate</a:t>
            </a:r>
          </a:p>
        </p:txBody>
      </p:sp>
      <p:sp>
        <p:nvSpPr>
          <p:cNvPr id="6" name="TextBox 5">
            <a:extLst>
              <a:ext uri="{FF2B5EF4-FFF2-40B4-BE49-F238E27FC236}">
                <a16:creationId xmlns:a16="http://schemas.microsoft.com/office/drawing/2014/main" id="{25F89549-82EA-12C4-8567-524B428079C6}"/>
              </a:ext>
            </a:extLst>
          </p:cNvPr>
          <p:cNvSpPr txBox="1"/>
          <p:nvPr/>
        </p:nvSpPr>
        <p:spPr>
          <a:xfrm>
            <a:off x="6381252" y="3519522"/>
            <a:ext cx="5791200" cy="3338478"/>
          </a:xfrm>
          <a:prstGeom prst="rect">
            <a:avLst/>
          </a:prstGeom>
          <a:solidFill>
            <a:schemeClr val="bg1"/>
          </a:solidFill>
        </p:spPr>
        <p:txBody>
          <a:bodyPr wrap="square" rtlCol="0">
            <a:spAutoFit/>
          </a:bodyPr>
          <a:lstStyle/>
          <a:p>
            <a:pPr>
              <a:lnSpc>
                <a:spcPts val="1425"/>
              </a:lnSpc>
              <a:buNone/>
            </a:pP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RESULTS</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SUMMARY</a:t>
            </a:r>
            <a:endParaRPr lang="en-US" b="0" dirty="0">
              <a:solidFill>
                <a:srgbClr val="6688CC"/>
              </a:solidFill>
              <a:effectLst/>
              <a:latin typeface="Consolas" panose="020B0609020204030204" pitchFamily="49" charset="0"/>
            </a:endParaRPr>
          </a:p>
          <a:p>
            <a:pPr>
              <a:lnSpc>
                <a:spcPts val="1425"/>
              </a:lnSpc>
              <a:buNone/>
            </a:pPr>
            <a:r>
              <a:rPr lang="en-US" b="0" dirty="0">
                <a:solidFill>
                  <a:srgbClr val="225588"/>
                </a:solidFill>
                <a:effectLst/>
                <a:latin typeface="Consolas" panose="020B0609020204030204" pitchFamily="49" charset="0"/>
              </a:rPr>
              <a:t>==================================================</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RL</a:t>
            </a:r>
            <a:r>
              <a:rPr lang="en-US" b="0" dirty="0">
                <a:solidFill>
                  <a:srgbClr val="6688CC"/>
                </a:solidFill>
                <a:effectLst/>
                <a:latin typeface="Consolas" panose="020B0609020204030204" pitchFamily="49" charset="0"/>
              </a:rPr>
              <a:t> Agent win rate:         </a:t>
            </a:r>
            <a:r>
              <a:rPr lang="en-US" b="0" dirty="0">
                <a:solidFill>
                  <a:srgbClr val="F280D0"/>
                </a:solidFill>
                <a:effectLst/>
                <a:latin typeface="Consolas" panose="020B0609020204030204" pitchFamily="49" charset="0"/>
              </a:rPr>
              <a:t>0.153</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RL</a:t>
            </a:r>
            <a:r>
              <a:rPr lang="en-US" b="0" dirty="0">
                <a:solidFill>
                  <a:srgbClr val="6688CC"/>
                </a:solidFill>
                <a:effectLst/>
                <a:latin typeface="Consolas" panose="020B0609020204030204" pitchFamily="49" charset="0"/>
              </a:rPr>
              <a:t> bust rate</a:t>
            </a:r>
            <a:r>
              <a:rPr lang="en-US" b="0" dirty="0">
                <a:solidFill>
                  <a:srgbClr val="225588"/>
                </a:solidFill>
                <a:effectLst/>
                <a:latin typeface="Consolas" panose="020B0609020204030204" pitchFamily="49" charset="0"/>
              </a:rPr>
              <a:t>/</a:t>
            </a:r>
            <a:r>
              <a:rPr lang="en-US" b="0" dirty="0">
                <a:solidFill>
                  <a:srgbClr val="DDBB88"/>
                </a:solidFill>
                <a:effectLst/>
                <a:latin typeface="Consolas" panose="020B0609020204030204" pitchFamily="49" charset="0"/>
              </a:rPr>
              <a:t>round</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0.110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RL</a:t>
            </a:r>
            <a:r>
              <a:rPr lang="en-US" b="0" dirty="0">
                <a:solidFill>
                  <a:srgbClr val="6688CC"/>
                </a:solidFill>
                <a:effectLst/>
                <a:latin typeface="Consolas" panose="020B0609020204030204" pitchFamily="49" charset="0"/>
              </a:rPr>
              <a:t> avg pts banked:         </a:t>
            </a:r>
            <a:r>
              <a:rPr lang="en-US" b="0" dirty="0">
                <a:solidFill>
                  <a:srgbClr val="F280D0"/>
                </a:solidFill>
                <a:effectLst/>
                <a:latin typeface="Consolas" panose="020B0609020204030204" pitchFamily="49" charset="0"/>
              </a:rPr>
              <a:t>18.4</a:t>
            </a:r>
            <a:endParaRPr lang="en-US" b="0" dirty="0">
              <a:solidFill>
                <a:srgbClr val="6688CC"/>
              </a:solidFill>
              <a:effectLst/>
              <a:latin typeface="Consolas" panose="020B0609020204030204" pitchFamily="49" charset="0"/>
            </a:endParaRPr>
          </a:p>
          <a:p>
            <a:pPr>
              <a:lnSpc>
                <a:spcPts val="1425"/>
              </a:lnSpc>
              <a:buNone/>
            </a:pPr>
            <a:br>
              <a:rPr lang="en-US" b="0" dirty="0">
                <a:solidFill>
                  <a:srgbClr val="6688CC"/>
                </a:solidFill>
                <a:effectLst/>
                <a:latin typeface="Consolas" panose="020B0609020204030204" pitchFamily="49" charset="0"/>
              </a:rPr>
            </a:b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Statistical Test (</a:t>
            </a:r>
            <a:r>
              <a:rPr lang="en-US" b="0" i="1" dirty="0">
                <a:solidFill>
                  <a:srgbClr val="2277FF"/>
                </a:solidFill>
                <a:effectLst/>
                <a:latin typeface="Consolas" panose="020B0609020204030204" pitchFamily="49" charset="0"/>
              </a:rPr>
              <a:t>k</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10</a:t>
            </a:r>
            <a:r>
              <a:rPr lang="en-US" b="0" dirty="0">
                <a:solidFill>
                  <a:srgbClr val="6688CC"/>
                </a:solidFill>
                <a:effectLst/>
                <a:latin typeface="Consolas" panose="020B0609020204030204" pitchFamily="49" charset="0"/>
              </a:rPr>
              <a:t> folds):</a:t>
            </a:r>
          </a:p>
          <a:p>
            <a:pPr>
              <a:lnSpc>
                <a:spcPts val="1425"/>
              </a:lnSpc>
              <a:buNone/>
            </a:pPr>
            <a:r>
              <a:rPr lang="en-US" b="0" dirty="0">
                <a:solidFill>
                  <a:srgbClr val="F280D0"/>
                </a:solidFill>
                <a:effectLst/>
                <a:latin typeface="Consolas" panose="020B0609020204030204" pitchFamily="49" charset="0"/>
              </a:rPr>
              <a:t>RL</a:t>
            </a:r>
            <a:r>
              <a:rPr lang="en-US" b="0" dirty="0">
                <a:solidFill>
                  <a:srgbClr val="6688CC"/>
                </a:solidFill>
                <a:effectLst/>
                <a:latin typeface="Consolas" panose="020B0609020204030204" pitchFamily="49" charset="0"/>
              </a:rPr>
              <a:t> mean win rate:          </a:t>
            </a:r>
            <a:r>
              <a:rPr lang="en-US" b="0" dirty="0">
                <a:solidFill>
                  <a:srgbClr val="F280D0"/>
                </a:solidFill>
                <a:effectLst/>
                <a:latin typeface="Consolas" panose="020B0609020204030204" pitchFamily="49" charset="0"/>
              </a:rPr>
              <a:t>0.167</a:t>
            </a:r>
            <a:r>
              <a:rPr lang="en-US" b="0" dirty="0">
                <a:solidFill>
                  <a:srgbClr val="6688CC"/>
                </a:solidFill>
                <a:effectLst/>
                <a:latin typeface="Consolas" panose="020B0609020204030204" pitchFamily="49" charset="0"/>
              </a:rPr>
              <a:t> </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0.028</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Greedy mean win rate:      </a:t>
            </a:r>
            <a:r>
              <a:rPr lang="en-US" b="0" dirty="0">
                <a:solidFill>
                  <a:srgbClr val="F280D0"/>
                </a:solidFill>
                <a:effectLst/>
                <a:latin typeface="Consolas" panose="020B0609020204030204" pitchFamily="49" charset="0"/>
              </a:rPr>
              <a:t>0.345</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Conservative mean:         </a:t>
            </a:r>
            <a:r>
              <a:rPr lang="en-US" b="0" dirty="0">
                <a:solidFill>
                  <a:srgbClr val="F280D0"/>
                </a:solidFill>
                <a:effectLst/>
                <a:latin typeface="Consolas" panose="020B0609020204030204" pitchFamily="49" charset="0"/>
              </a:rPr>
              <a:t>0.253</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Balanced mean:             </a:t>
            </a:r>
            <a:r>
              <a:rPr lang="en-US" b="0" dirty="0">
                <a:solidFill>
                  <a:srgbClr val="F280D0"/>
                </a:solidFill>
                <a:effectLst/>
                <a:latin typeface="Consolas" panose="020B0609020204030204" pitchFamily="49" charset="0"/>
              </a:rPr>
              <a:t>0.279</a:t>
            </a:r>
            <a:endParaRPr lang="en-US" b="0" dirty="0">
              <a:solidFill>
                <a:srgbClr val="6688CC"/>
              </a:solidFill>
              <a:effectLst/>
              <a:latin typeface="Consolas" panose="020B0609020204030204" pitchFamily="49" charset="0"/>
            </a:endParaRPr>
          </a:p>
          <a:p>
            <a:pPr>
              <a:lnSpc>
                <a:spcPts val="1425"/>
              </a:lnSpc>
              <a:buNone/>
            </a:pPr>
            <a:r>
              <a:rPr lang="en-US" b="0" dirty="0">
                <a:solidFill>
                  <a:srgbClr val="F280D0"/>
                </a:solidFill>
                <a:effectLst/>
                <a:latin typeface="Consolas" panose="020B0609020204030204" pitchFamily="49" charset="0"/>
              </a:rPr>
              <a:t>95</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CI</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0.146</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0.189</a:t>
            </a:r>
            <a:r>
              <a:rPr lang="en-US" b="0" dirty="0">
                <a:solidFill>
                  <a:srgbClr val="6688CC"/>
                </a:solidFill>
                <a:effectLst/>
                <a:latin typeface="Consolas" panose="020B0609020204030204" pitchFamily="49" charset="0"/>
              </a:rPr>
              <a:t>)</a:t>
            </a:r>
          </a:p>
          <a:p>
            <a:pPr>
              <a:lnSpc>
                <a:spcPts val="1425"/>
              </a:lnSpc>
              <a:buNone/>
            </a:pPr>
            <a:r>
              <a:rPr lang="en-US" b="0" dirty="0">
                <a:solidFill>
                  <a:srgbClr val="6688CC"/>
                </a:solidFill>
                <a:effectLst/>
                <a:latin typeface="Consolas" panose="020B0609020204030204" pitchFamily="49" charset="0"/>
              </a:rPr>
              <a:t>t</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statistic:               </a:t>
            </a:r>
            <a:r>
              <a:rPr lang="en-US" b="0" dirty="0">
                <a:solidFill>
                  <a:srgbClr val="225588"/>
                </a:solidFill>
                <a:effectLst/>
                <a:latin typeface="Consolas" panose="020B0609020204030204" pitchFamily="49" charset="0"/>
              </a:rPr>
              <a:t>-</a:t>
            </a:r>
            <a:r>
              <a:rPr lang="en-US" b="0" dirty="0">
                <a:solidFill>
                  <a:srgbClr val="F280D0"/>
                </a:solidFill>
                <a:effectLst/>
                <a:latin typeface="Consolas" panose="020B0609020204030204" pitchFamily="49" charset="0"/>
              </a:rPr>
              <a:t>11.4147</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p</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value (two</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sided):       </a:t>
            </a:r>
            <a:r>
              <a:rPr lang="en-US" b="0" dirty="0">
                <a:solidFill>
                  <a:srgbClr val="F280D0"/>
                </a:solidFill>
                <a:effectLst/>
                <a:latin typeface="Consolas" panose="020B0609020204030204" pitchFamily="49" charset="0"/>
              </a:rPr>
              <a:t>0.0000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p</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value (one</a:t>
            </a:r>
            <a:r>
              <a:rPr lang="en-US" b="0" dirty="0">
                <a:solidFill>
                  <a:srgbClr val="225588"/>
                </a:solidFill>
                <a:effectLst/>
                <a:latin typeface="Consolas" panose="020B0609020204030204" pitchFamily="49" charset="0"/>
              </a:rPr>
              <a:t>-</a:t>
            </a:r>
            <a:r>
              <a:rPr lang="en-US" b="0" dirty="0">
                <a:solidFill>
                  <a:srgbClr val="6688CC"/>
                </a:solidFill>
                <a:effectLst/>
                <a:latin typeface="Consolas" panose="020B0609020204030204" pitchFamily="49" charset="0"/>
              </a:rPr>
              <a:t>sided):       </a:t>
            </a:r>
            <a:r>
              <a:rPr lang="en-US" b="0" dirty="0">
                <a:solidFill>
                  <a:srgbClr val="F280D0"/>
                </a:solidFill>
                <a:effectLst/>
                <a:latin typeface="Consolas" panose="020B0609020204030204" pitchFamily="49" charset="0"/>
              </a:rPr>
              <a:t>0.0000</a:t>
            </a:r>
            <a:endParaRPr lang="en-US" b="0" dirty="0">
              <a:solidFill>
                <a:srgbClr val="6688CC"/>
              </a:solidFill>
              <a:effectLst/>
              <a:latin typeface="Consolas" panose="020B0609020204030204" pitchFamily="49" charset="0"/>
            </a:endParaRPr>
          </a:p>
          <a:p>
            <a:pPr>
              <a:lnSpc>
                <a:spcPts val="1425"/>
              </a:lnSpc>
              <a:buNone/>
            </a:pPr>
            <a:r>
              <a:rPr lang="en-US" b="0" dirty="0">
                <a:solidFill>
                  <a:srgbClr val="6688CC"/>
                </a:solidFill>
                <a:effectLst/>
                <a:latin typeface="Consolas" panose="020B0609020204030204" pitchFamily="49" charset="0"/>
              </a:rPr>
              <a:t>Significant (p</a:t>
            </a:r>
            <a:r>
              <a:rPr lang="en-US" b="0" dirty="0">
                <a:solidFill>
                  <a:srgbClr val="225588"/>
                </a:solidFill>
                <a:effectLst/>
                <a:latin typeface="Consolas" panose="020B0609020204030204" pitchFamily="49" charset="0"/>
              </a:rPr>
              <a:t>&lt;</a:t>
            </a:r>
            <a:r>
              <a:rPr lang="en-US" b="0" dirty="0">
                <a:solidFill>
                  <a:srgbClr val="F280D0"/>
                </a:solidFill>
                <a:effectLst/>
                <a:latin typeface="Consolas" panose="020B0609020204030204" pitchFamily="49" charset="0"/>
              </a:rPr>
              <a:t>0.05</a:t>
            </a:r>
            <a:r>
              <a:rPr lang="en-US" b="0" dirty="0">
                <a:solidFill>
                  <a:srgbClr val="6688CC"/>
                </a:solidFill>
                <a:effectLst/>
                <a:latin typeface="Consolas" panose="020B0609020204030204" pitchFamily="49" charset="0"/>
              </a:rPr>
              <a:t>):      </a:t>
            </a:r>
            <a:r>
              <a:rPr lang="en-US" b="0" dirty="0">
                <a:solidFill>
                  <a:srgbClr val="F280D0"/>
                </a:solidFill>
                <a:effectLst/>
                <a:latin typeface="Consolas" panose="020B0609020204030204" pitchFamily="49" charset="0"/>
              </a:rPr>
              <a:t>True</a:t>
            </a:r>
            <a:endParaRPr lang="en-US" b="0" dirty="0">
              <a:solidFill>
                <a:srgbClr val="6688CC"/>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0C0586E7-5FFA-FC84-52FB-4AA709A5D3F6}"/>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11</a:t>
            </a:r>
          </a:p>
        </p:txBody>
      </p:sp>
    </p:spTree>
    <p:extLst>
      <p:ext uri="{BB962C8B-B14F-4D97-AF65-F5344CB8AC3E}">
        <p14:creationId xmlns:p14="http://schemas.microsoft.com/office/powerpoint/2010/main" val="496134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D6FA-FD1F-4245-96DB-5641CE64D4B8}"/>
              </a:ext>
            </a:extLst>
          </p:cNvPr>
          <p:cNvSpPr>
            <a:spLocks noGrp="1"/>
          </p:cNvSpPr>
          <p:nvPr>
            <p:ph type="title"/>
          </p:nvPr>
        </p:nvSpPr>
        <p:spPr>
          <a:xfrm>
            <a:off x="2632566" y="147918"/>
            <a:ext cx="9404723" cy="1400530"/>
          </a:xfrm>
        </p:spPr>
        <p:txBody>
          <a:bodyPr/>
          <a:lstStyle/>
          <a:p>
            <a:r>
              <a:rPr lang="en-US" dirty="0"/>
              <a:t>Discussion/Takeaways</a:t>
            </a:r>
          </a:p>
        </p:txBody>
      </p:sp>
      <p:pic>
        <p:nvPicPr>
          <p:cNvPr id="7" name="Content Placeholder 6">
            <a:extLst>
              <a:ext uri="{FF2B5EF4-FFF2-40B4-BE49-F238E27FC236}">
                <a16:creationId xmlns:a16="http://schemas.microsoft.com/office/drawing/2014/main" id="{9C16EBDD-DB40-A9DA-E6A4-6DD25EF1690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53383" y="3778707"/>
            <a:ext cx="4395787" cy="2930524"/>
          </a:xfrm>
        </p:spPr>
      </p:pic>
      <p:sp>
        <p:nvSpPr>
          <p:cNvPr id="5" name="Rectangle 4">
            <a:extLst>
              <a:ext uri="{FF2B5EF4-FFF2-40B4-BE49-F238E27FC236}">
                <a16:creationId xmlns:a16="http://schemas.microsoft.com/office/drawing/2014/main" id="{4EC48C31-4509-8C27-6F60-3CBF9F78557A}"/>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12</a:t>
            </a:r>
          </a:p>
        </p:txBody>
      </p:sp>
      <p:pic>
        <p:nvPicPr>
          <p:cNvPr id="9" name="Picture 8">
            <a:extLst>
              <a:ext uri="{FF2B5EF4-FFF2-40B4-BE49-F238E27FC236}">
                <a16:creationId xmlns:a16="http://schemas.microsoft.com/office/drawing/2014/main" id="{CD13283B-14E0-ECCC-BBED-8F2C877CA8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384" y="848183"/>
            <a:ext cx="4395786" cy="2930524"/>
          </a:xfrm>
          <a:prstGeom prst="rect">
            <a:avLst/>
          </a:prstGeom>
        </p:spPr>
      </p:pic>
      <p:sp>
        <p:nvSpPr>
          <p:cNvPr id="10" name="TextBox 9">
            <a:extLst>
              <a:ext uri="{FF2B5EF4-FFF2-40B4-BE49-F238E27FC236}">
                <a16:creationId xmlns:a16="http://schemas.microsoft.com/office/drawing/2014/main" id="{26E37097-FC9B-028F-0DD9-CC8B77E0D7D1}"/>
              </a:ext>
            </a:extLst>
          </p:cNvPr>
          <p:cNvSpPr txBox="1"/>
          <p:nvPr/>
        </p:nvSpPr>
        <p:spPr>
          <a:xfrm>
            <a:off x="5633545" y="1776248"/>
            <a:ext cx="4992414" cy="2862322"/>
          </a:xfrm>
          <a:prstGeom prst="rect">
            <a:avLst/>
          </a:prstGeom>
          <a:noFill/>
        </p:spPr>
        <p:txBody>
          <a:bodyPr wrap="square" rtlCol="0">
            <a:spAutoFit/>
          </a:bodyPr>
          <a:lstStyle/>
          <a:p>
            <a:pPr marL="285750" indent="-285750">
              <a:buFontTx/>
              <a:buChar char="-"/>
            </a:pPr>
            <a:r>
              <a:rPr lang="en-US" dirty="0"/>
              <a:t>My reward function is flawed</a:t>
            </a:r>
          </a:p>
          <a:p>
            <a:pPr marL="742950" lvl="1" indent="-285750">
              <a:buFontTx/>
              <a:buChar char="-"/>
            </a:pPr>
            <a:r>
              <a:rPr lang="en-US" dirty="0"/>
              <a:t>My agent was actively banking well below the competition</a:t>
            </a:r>
          </a:p>
          <a:p>
            <a:pPr marL="742950" lvl="1" indent="-285750">
              <a:buFontTx/>
              <a:buChar char="-"/>
            </a:pPr>
            <a:r>
              <a:rPr lang="en-US" dirty="0"/>
              <a:t>My Greedy heuristic may not be as greedy as it should be. </a:t>
            </a:r>
          </a:p>
          <a:p>
            <a:pPr marL="742950" lvl="1" indent="-285750">
              <a:buFontTx/>
              <a:buChar char="-"/>
            </a:pPr>
            <a:endParaRPr lang="en-US" dirty="0"/>
          </a:p>
          <a:p>
            <a:pPr marL="285750" indent="-285750">
              <a:buFontTx/>
              <a:buChar char="-"/>
            </a:pPr>
            <a:r>
              <a:rPr lang="en-US" dirty="0"/>
              <a:t>State Abstraction has limitations</a:t>
            </a:r>
          </a:p>
          <a:p>
            <a:pPr marL="285750" indent="-285750">
              <a:buFontTx/>
              <a:buChar char="-"/>
            </a:pPr>
            <a:endParaRPr lang="en-US" dirty="0"/>
          </a:p>
          <a:p>
            <a:pPr marL="285750" indent="-285750">
              <a:buFontTx/>
              <a:buChar char="-"/>
            </a:pPr>
            <a:r>
              <a:rPr lang="en-US" dirty="0"/>
              <a:t>Balanced_2 Heuristic had issues during testing phase</a:t>
            </a:r>
          </a:p>
        </p:txBody>
      </p:sp>
    </p:spTree>
    <p:extLst>
      <p:ext uri="{BB962C8B-B14F-4D97-AF65-F5344CB8AC3E}">
        <p14:creationId xmlns:p14="http://schemas.microsoft.com/office/powerpoint/2010/main" val="1347173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36116-2F68-D1F9-3584-015313D0C613}"/>
              </a:ext>
            </a:extLst>
          </p:cNvPr>
          <p:cNvSpPr>
            <a:spLocks noGrp="1"/>
          </p:cNvSpPr>
          <p:nvPr>
            <p:ph type="title"/>
          </p:nvPr>
        </p:nvSpPr>
        <p:spPr/>
        <p:txBody>
          <a:bodyPr/>
          <a:lstStyle/>
          <a:p>
            <a:r>
              <a:rPr lang="en-US" dirty="0"/>
              <a:t>Question #1</a:t>
            </a:r>
          </a:p>
        </p:txBody>
      </p:sp>
      <p:sp>
        <p:nvSpPr>
          <p:cNvPr id="3" name="Text Placeholder 2">
            <a:extLst>
              <a:ext uri="{FF2B5EF4-FFF2-40B4-BE49-F238E27FC236}">
                <a16:creationId xmlns:a16="http://schemas.microsoft.com/office/drawing/2014/main" id="{76C4ABE7-6027-31BA-B185-445EDA77CA8C}"/>
              </a:ext>
            </a:extLst>
          </p:cNvPr>
          <p:cNvSpPr>
            <a:spLocks noGrp="1"/>
          </p:cNvSpPr>
          <p:nvPr>
            <p:ph type="body" sz="half" idx="2"/>
          </p:nvPr>
        </p:nvSpPr>
        <p:spPr/>
        <p:txBody>
          <a:bodyPr/>
          <a:lstStyle/>
          <a:p>
            <a:r>
              <a:rPr lang="en-US" dirty="0"/>
              <a:t>What aspect of AI did you find most technically challenging in completing this term project? State Abstraction</a:t>
            </a:r>
          </a:p>
        </p:txBody>
      </p:sp>
      <p:sp>
        <p:nvSpPr>
          <p:cNvPr id="4" name="Rectangle 3">
            <a:extLst>
              <a:ext uri="{FF2B5EF4-FFF2-40B4-BE49-F238E27FC236}">
                <a16:creationId xmlns:a16="http://schemas.microsoft.com/office/drawing/2014/main" id="{38D89352-EDA2-B030-720F-2C0D124F8DAD}"/>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13</a:t>
            </a:r>
          </a:p>
        </p:txBody>
      </p:sp>
    </p:spTree>
    <p:extLst>
      <p:ext uri="{BB962C8B-B14F-4D97-AF65-F5344CB8AC3E}">
        <p14:creationId xmlns:p14="http://schemas.microsoft.com/office/powerpoint/2010/main" val="323806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902ED-F543-B506-46B7-A7E437976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05F9E-0903-3581-E65E-3725F98706EF}"/>
              </a:ext>
            </a:extLst>
          </p:cNvPr>
          <p:cNvSpPr>
            <a:spLocks noGrp="1"/>
          </p:cNvSpPr>
          <p:nvPr>
            <p:ph type="title"/>
          </p:nvPr>
        </p:nvSpPr>
        <p:spPr/>
        <p:txBody>
          <a:bodyPr/>
          <a:lstStyle/>
          <a:p>
            <a:r>
              <a:rPr lang="en-US" dirty="0"/>
              <a:t>Question #2</a:t>
            </a:r>
          </a:p>
        </p:txBody>
      </p:sp>
      <p:sp>
        <p:nvSpPr>
          <p:cNvPr id="3" name="Text Placeholder 2">
            <a:extLst>
              <a:ext uri="{FF2B5EF4-FFF2-40B4-BE49-F238E27FC236}">
                <a16:creationId xmlns:a16="http://schemas.microsoft.com/office/drawing/2014/main" id="{12C2E861-3D79-E1D1-F2EE-40F63D0F8B45}"/>
              </a:ext>
            </a:extLst>
          </p:cNvPr>
          <p:cNvSpPr>
            <a:spLocks noGrp="1"/>
          </p:cNvSpPr>
          <p:nvPr>
            <p:ph type="body" sz="half" idx="2"/>
          </p:nvPr>
        </p:nvSpPr>
        <p:spPr/>
        <p:txBody>
          <a:bodyPr/>
          <a:lstStyle/>
          <a:p>
            <a:r>
              <a:rPr lang="en-US" dirty="0"/>
              <a:t>What aspect of AI do you think you learned the most about over the course of the project? Heuristics</a:t>
            </a:r>
          </a:p>
        </p:txBody>
      </p:sp>
      <p:sp>
        <p:nvSpPr>
          <p:cNvPr id="4" name="Rectangle 3">
            <a:extLst>
              <a:ext uri="{FF2B5EF4-FFF2-40B4-BE49-F238E27FC236}">
                <a16:creationId xmlns:a16="http://schemas.microsoft.com/office/drawing/2014/main" id="{6098D88E-7BB7-F008-3216-A69089848E14}"/>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14</a:t>
            </a:r>
          </a:p>
        </p:txBody>
      </p:sp>
    </p:spTree>
    <p:extLst>
      <p:ext uri="{BB962C8B-B14F-4D97-AF65-F5344CB8AC3E}">
        <p14:creationId xmlns:p14="http://schemas.microsoft.com/office/powerpoint/2010/main" val="4052059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B29FB-C686-5384-F1E0-E4621E04C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0F367-8E18-0A70-F042-95F3EEB09DDB}"/>
              </a:ext>
            </a:extLst>
          </p:cNvPr>
          <p:cNvSpPr>
            <a:spLocks noGrp="1"/>
          </p:cNvSpPr>
          <p:nvPr>
            <p:ph type="title"/>
          </p:nvPr>
        </p:nvSpPr>
        <p:spPr/>
        <p:txBody>
          <a:bodyPr/>
          <a:lstStyle/>
          <a:p>
            <a:r>
              <a:rPr lang="en-US" dirty="0"/>
              <a:t>Question #3</a:t>
            </a:r>
          </a:p>
        </p:txBody>
      </p:sp>
      <p:sp>
        <p:nvSpPr>
          <p:cNvPr id="3" name="Text Placeholder 2">
            <a:extLst>
              <a:ext uri="{FF2B5EF4-FFF2-40B4-BE49-F238E27FC236}">
                <a16:creationId xmlns:a16="http://schemas.microsoft.com/office/drawing/2014/main" id="{853AD993-A987-FC34-2C6D-278D3B90A363}"/>
              </a:ext>
            </a:extLst>
          </p:cNvPr>
          <p:cNvSpPr>
            <a:spLocks noGrp="1"/>
          </p:cNvSpPr>
          <p:nvPr>
            <p:ph type="body" sz="half" idx="2"/>
          </p:nvPr>
        </p:nvSpPr>
        <p:spPr/>
        <p:txBody>
          <a:bodyPr/>
          <a:lstStyle/>
          <a:p>
            <a:r>
              <a:rPr lang="en-US" dirty="0"/>
              <a:t>What is your top priority for future work, if you were to continue this project as a research project or in independent study?</a:t>
            </a:r>
          </a:p>
        </p:txBody>
      </p:sp>
      <p:sp>
        <p:nvSpPr>
          <p:cNvPr id="4" name="Rectangle 3">
            <a:extLst>
              <a:ext uri="{FF2B5EF4-FFF2-40B4-BE49-F238E27FC236}">
                <a16:creationId xmlns:a16="http://schemas.microsoft.com/office/drawing/2014/main" id="{A9F65719-4C2B-6090-A2BE-072E0F3D5938}"/>
              </a:ext>
            </a:extLst>
          </p:cNvPr>
          <p:cNvSpPr/>
          <p:nvPr/>
        </p:nvSpPr>
        <p:spPr>
          <a:xfrm>
            <a:off x="10255178" y="383542"/>
            <a:ext cx="996422" cy="769441"/>
          </a:xfrm>
          <a:prstGeom prst="rect">
            <a:avLst/>
          </a:prstGeom>
          <a:noFill/>
        </p:spPr>
        <p:txBody>
          <a:bodyPr wrap="square" lIns="91440" tIns="45720" rIns="91440" bIns="45720">
            <a:spAutoFit/>
          </a:bodyPr>
          <a:lstStyle/>
          <a:p>
            <a:pPr algn="ctr"/>
            <a:r>
              <a:rPr lang="en-US" sz="4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15</a:t>
            </a:r>
          </a:p>
        </p:txBody>
      </p:sp>
    </p:spTree>
    <p:extLst>
      <p:ext uri="{BB962C8B-B14F-4D97-AF65-F5344CB8AC3E}">
        <p14:creationId xmlns:p14="http://schemas.microsoft.com/office/powerpoint/2010/main" val="8771071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1415</TotalTime>
  <Words>3755</Words>
  <Application>Microsoft Office PowerPoint</Application>
  <PresentationFormat>Widescreen</PresentationFormat>
  <Paragraphs>445</Paragraphs>
  <Slides>18</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Century Gothic</vt:lpstr>
      <vt:lpstr>Consolas</vt:lpstr>
      <vt:lpstr>Wingdings 3</vt:lpstr>
      <vt:lpstr>Ion</vt:lpstr>
      <vt:lpstr>OpenDocument Text</vt:lpstr>
      <vt:lpstr>Learning Risk-Aware Policies: A Comparative Study of Reinforcement Learning</vt:lpstr>
      <vt:lpstr>Problem: Can a reinforcement learning agent learn when to stop drawing cards in Flip 7 without being given fixed stopping thresholds</vt:lpstr>
      <vt:lpstr>Game Overview</vt:lpstr>
      <vt:lpstr>MDP Formulation</vt:lpstr>
      <vt:lpstr>Heuristic Agents</vt:lpstr>
      <vt:lpstr>System Architecture</vt:lpstr>
      <vt:lpstr>Q-Learning Agent Design</vt:lpstr>
      <vt:lpstr>Q-Learning Agent Design</vt:lpstr>
      <vt:lpstr>Q-Learning Agent Design</vt:lpstr>
      <vt:lpstr>Q-Learning Agent Design</vt:lpstr>
      <vt:lpstr>Reward Function</vt:lpstr>
      <vt:lpstr>Training Results</vt:lpstr>
      <vt:lpstr>Evaluation Results</vt:lpstr>
      <vt:lpstr>Statistical Evaluation</vt:lpstr>
      <vt:lpstr>Discussion/Takeaways</vt:lpstr>
      <vt:lpstr>Question #1</vt:lpstr>
      <vt:lpstr>Question #2</vt:lpstr>
      <vt:lpstr>Question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Chalmer Calhoun</dc:creator>
  <cp:lastModifiedBy>Chalmer Calhoun</cp:lastModifiedBy>
  <cp:revision>27</cp:revision>
  <dcterms:created xsi:type="dcterms:W3CDTF">2026-05-05T02:00:36Z</dcterms:created>
  <dcterms:modified xsi:type="dcterms:W3CDTF">2026-05-06T01:35:39Z</dcterms:modified>
</cp:coreProperties>
</file>